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ommentAuthors.xml" ContentType="application/vnd.openxmlformats-officedocument.presentationml.commentAuthor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"/>
  </p:notesMasterIdLst>
  <p:sldIdLst>
    <p:sldId id="568" r:id="rId3"/>
    <p:sldId id="540" r:id="rId5"/>
    <p:sldId id="541" r:id="rId6"/>
    <p:sldId id="556" r:id="rId7"/>
    <p:sldId id="549" r:id="rId8"/>
    <p:sldId id="563" r:id="rId9"/>
    <p:sldId id="545" r:id="rId10"/>
    <p:sldId id="561" r:id="rId11"/>
    <p:sldId id="555" r:id="rId12"/>
  </p:sldIdLst>
  <p:sldSz cx="10080625" cy="6480175"/>
  <p:notesSz cx="7103745" cy="10234295"/>
  <p:defaultTextStyle>
    <a:defPPr>
      <a:defRPr lang="zh-CN"/>
    </a:defPPr>
    <a:lvl1pPr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基础项" id="{4B44E209-17D4-4736-AF39-3911E9E10A23}">
          <p14:sldIdLst>
            <p14:sldId id="568"/>
          </p14:sldIdLst>
        </p14:section>
        <p14:section name="无标题节" id="{A67902CC-614E-453A-90F9-8376B8F062D8}">
          <p14:sldIdLst>
            <p14:sldId id="540"/>
            <p14:sldId id="541"/>
            <p14:sldId id="556"/>
            <p14:sldId id="549"/>
            <p14:sldId id="563"/>
          </p14:sldIdLst>
        </p14:section>
        <p14:section name="准入必备项" id="{20F170CF-42AA-45EF-8FF7-1343A52EEFAC}">
          <p14:sldIdLst>
            <p14:sldId id="545"/>
            <p14:sldId id="561"/>
          </p14:sldIdLst>
        </p14:section>
        <p14:section name="提升必备项" id="{A6508653-B6DD-4F59-A4C3-1CA70BFA19E9}">
          <p14:sldIdLst>
            <p14:sldId id="555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4081" userDrawn="1">
          <p15:clr>
            <a:srgbClr val="A4A3A4"/>
          </p15:clr>
        </p15:guide>
        <p15:guide id="2" pos="0" userDrawn="1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郝帅飞(Shuaifei Hao)" initials="郝帅飞(Shuaifei" lastIdx="1" clrIdx="0"/>
  <p:cmAuthor id="2" name="何晓亮(Xiaoliang He)" initials="何晓亮(Xiaoliang" lastIdx="2" clrIdx="1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3333FF"/>
    <a:srgbClr val="0067B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无样式，网格型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9530" autoAdjust="0"/>
    <p:restoredTop sz="93875" autoAdjust="0"/>
  </p:normalViewPr>
  <p:slideViewPr>
    <p:cSldViewPr showGuides="1">
      <p:cViewPr varScale="1">
        <p:scale>
          <a:sx n="130" d="100"/>
          <a:sy n="130" d="100"/>
        </p:scale>
        <p:origin x="1032" y="184"/>
      </p:cViewPr>
      <p:guideLst>
        <p:guide orient="horz" pos="4081"/>
        <p:guide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3" d="2"/>
        <a:sy n="3" d="2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6" Type="http://schemas.openxmlformats.org/officeDocument/2006/relationships/commentAuthors" Target="commentAuthors.xml"/><Relationship Id="rId15" Type="http://schemas.openxmlformats.org/officeDocument/2006/relationships/tableStyles" Target="tableStyles.xml"/><Relationship Id="rId14" Type="http://schemas.openxmlformats.org/officeDocument/2006/relationships/viewProps" Target="viewProps.xml"/><Relationship Id="rId13" Type="http://schemas.openxmlformats.org/officeDocument/2006/relationships/presProps" Target="presProps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78427" cy="511731"/>
          </a:xfrm>
          <a:prstGeom prst="rect">
            <a:avLst/>
          </a:prstGeom>
        </p:spPr>
        <p:txBody>
          <a:bodyPr vert="horz" lIns="99075" tIns="49538" rIns="99075" bIns="49538" rtlCol="0"/>
          <a:lstStyle>
            <a:lvl1pPr algn="l" eaLnBrk="1" hangingPunct="1">
              <a:defRPr sz="1300">
                <a:latin typeface="Arial" panose="020B0604020202020204" pitchFamily="34" charset="0"/>
                <a:ea typeface="宋体" panose="02010600030101010101" pitchFamily="2" charset="-122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4023992" y="0"/>
            <a:ext cx="3078427" cy="511731"/>
          </a:xfrm>
          <a:prstGeom prst="rect">
            <a:avLst/>
          </a:prstGeom>
        </p:spPr>
        <p:txBody>
          <a:bodyPr vert="horz" lIns="99075" tIns="49538" rIns="99075" bIns="49538" rtlCol="0"/>
          <a:lstStyle>
            <a:lvl1pPr algn="r" eaLnBrk="1" hangingPunct="1">
              <a:defRPr sz="1300">
                <a:latin typeface="Arial" panose="020B0604020202020204" pitchFamily="34" charset="0"/>
                <a:ea typeface="宋体" panose="02010600030101010101" pitchFamily="2" charset="-122"/>
              </a:defRPr>
            </a:lvl1pPr>
          </a:lstStyle>
          <a:p>
            <a:pPr>
              <a:defRPr/>
            </a:pPr>
            <a:fld id="{D8E5757C-C670-4DBC-9EEA-872586AF60B3}" type="datetimeFigureOut">
              <a:rPr lang="zh-CN" altLang="en-US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568325" y="768350"/>
            <a:ext cx="5967413" cy="3836988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9075" tIns="49538" rIns="99075" bIns="49538" rtlCol="0" anchor="ctr"/>
          <a:lstStyle/>
          <a:p>
            <a:pPr lvl="0"/>
            <a:endParaRPr lang="zh-CN" altLang="en-US" noProof="0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710407" y="4861441"/>
            <a:ext cx="5683250" cy="4605576"/>
          </a:xfrm>
          <a:prstGeom prst="rect">
            <a:avLst/>
          </a:prstGeom>
        </p:spPr>
        <p:txBody>
          <a:bodyPr vert="horz" wrap="square" lIns="99075" tIns="49538" rIns="99075" bIns="49538" numCol="1" anchor="t" anchorCtr="0" compatLnSpc="1">
            <a:normAutofit/>
          </a:bodyPr>
          <a:lstStyle/>
          <a:p>
            <a:pPr lvl="0"/>
            <a:r>
              <a:rPr lang="zh-CN" altLang="en-US" noProof="0"/>
              <a:t>单击此处编辑母版文本样式</a:t>
            </a:r>
            <a:endParaRPr lang="zh-CN" altLang="en-US" noProof="0"/>
          </a:p>
          <a:p>
            <a:pPr lvl="1"/>
            <a:r>
              <a:rPr lang="zh-CN" altLang="en-US" noProof="0"/>
              <a:t>第二级</a:t>
            </a:r>
            <a:endParaRPr lang="zh-CN" altLang="en-US" noProof="0"/>
          </a:p>
          <a:p>
            <a:pPr lvl="2"/>
            <a:r>
              <a:rPr lang="zh-CN" altLang="en-US" noProof="0"/>
              <a:t>第三级</a:t>
            </a:r>
            <a:endParaRPr lang="zh-CN" altLang="en-US" noProof="0"/>
          </a:p>
          <a:p>
            <a:pPr lvl="3"/>
            <a:r>
              <a:rPr lang="zh-CN" altLang="en-US" noProof="0"/>
              <a:t>第四级</a:t>
            </a:r>
            <a:endParaRPr lang="zh-CN" altLang="en-US" noProof="0"/>
          </a:p>
          <a:p>
            <a:pPr lvl="4"/>
            <a:r>
              <a:rPr lang="zh-CN" altLang="en-US" noProof="0"/>
              <a:t>第五级</a:t>
            </a:r>
            <a:endParaRPr lang="zh-CN" altLang="en-US" noProof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9721106"/>
            <a:ext cx="3078427" cy="511731"/>
          </a:xfrm>
          <a:prstGeom prst="rect">
            <a:avLst/>
          </a:prstGeom>
        </p:spPr>
        <p:txBody>
          <a:bodyPr vert="horz" lIns="99075" tIns="49538" rIns="99075" bIns="49538" rtlCol="0" anchor="b"/>
          <a:lstStyle>
            <a:lvl1pPr algn="l" eaLnBrk="1" hangingPunct="1">
              <a:defRPr sz="1300">
                <a:latin typeface="Arial" panose="020B0604020202020204" pitchFamily="34" charset="0"/>
                <a:ea typeface="宋体" panose="02010600030101010101" pitchFamily="2" charset="-122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4023992" y="9721106"/>
            <a:ext cx="3078427" cy="511731"/>
          </a:xfrm>
          <a:prstGeom prst="rect">
            <a:avLst/>
          </a:prstGeom>
        </p:spPr>
        <p:txBody>
          <a:bodyPr vert="horz" wrap="square" lIns="99075" tIns="49538" rIns="99075" bIns="49538" numCol="1" anchor="b" anchorCtr="0" compatLnSpc="1"/>
          <a:lstStyle>
            <a:lvl1pPr algn="r" eaLnBrk="1" hangingPunct="1">
              <a:defRPr sz="1300"/>
            </a:lvl1pPr>
          </a:lstStyle>
          <a:p>
            <a:pPr>
              <a:defRPr/>
            </a:pPr>
            <a:fld id="{23330A43-4550-4BD1-A82A-20C0F2EE0700}" type="slidenum">
              <a:rPr lang="zh-CN" altLang="en-US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FDA8B682-94E4-4EE5-8766-03EB12934D3A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FDA8B682-94E4-4EE5-8766-03EB12934D3A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23330A43-4550-4BD1-A82A-20C0F2EE0700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23330A43-4550-4BD1-A82A-20C0F2EE0700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23330A43-4550-4BD1-A82A-20C0F2EE0700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23330A43-4550-4BD1-A82A-20C0F2EE0700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756055" y="2013055"/>
            <a:ext cx="8568531" cy="1389038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12094" y="3672099"/>
            <a:ext cx="7056438" cy="1656045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CN" altLang="en-US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40B7A91-931D-4EB4-8650-9BDE5E39F9C2}" type="datetimeFigureOut">
              <a:rPr lang="zh-CN" altLang="en-US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B3FD246-7732-4F1A-82DF-39C1D45120FC}" type="slidenum">
              <a:rPr lang="zh-CN" altLang="en-US"/>
            </a:fld>
            <a:endParaRPr lang="zh-CN" altLang="en-US"/>
          </a:p>
        </p:txBody>
      </p:sp>
    </p:spTree>
  </p:cSld>
  <p:clrMapOvr>
    <a:masterClrMapping/>
  </p:clrMapOvr>
  <p:transition spd="med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504039" y="863827"/>
            <a:ext cx="8640737" cy="604315"/>
          </a:xfrm>
        </p:spPr>
        <p:txBody>
          <a:bodyPr/>
          <a:lstStyle>
            <a:lvl1pPr algn="l">
              <a:defRPr/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04039" y="1655911"/>
            <a:ext cx="8640737" cy="4132746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28FBFB3-DBC8-4EC6-9017-84594FDB01E4}" type="datetimeFigureOut">
              <a:rPr lang="zh-CN" altLang="en-US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4257DAF-6BCA-4045-8933-DABD3D497F0D}" type="slidenum">
              <a:rPr lang="zh-CN" altLang="en-US"/>
            </a:fld>
            <a:endParaRPr lang="zh-CN" altLang="en-US"/>
          </a:p>
        </p:txBody>
      </p:sp>
    </p:spTree>
  </p:cSld>
  <p:clrMapOvr>
    <a:masterClrMapping/>
  </p:clrMapOvr>
  <p:transition spd="med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96305" y="4164117"/>
            <a:ext cx="8568531" cy="128703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96305" y="2746575"/>
            <a:ext cx="8568531" cy="1417538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8982C42-DCD9-41A9-9E9B-B89E9438DB58}" type="datetimeFigureOut">
              <a:rPr lang="zh-CN" altLang="en-US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C2C199E-EBCF-478E-A869-4D41FF737905}" type="slidenum">
              <a:rPr lang="zh-CN" altLang="en-US"/>
            </a:fld>
            <a:endParaRPr lang="zh-CN" altLang="en-US"/>
          </a:p>
        </p:txBody>
      </p:sp>
    </p:spTree>
  </p:cSld>
  <p:clrMapOvr>
    <a:masterClrMapping/>
  </p:clrMapOvr>
  <p:transition spd="med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504031" y="1512041"/>
            <a:ext cx="4452276" cy="4276616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5124318" y="1512041"/>
            <a:ext cx="4452276" cy="4276616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5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6453160-A4A7-4606-8D22-92E0518F5B99}" type="datetimeFigureOut">
              <a:rPr lang="zh-CN" altLang="en-US"/>
            </a:fld>
            <a:endParaRPr lang="zh-CN" altLang="en-US"/>
          </a:p>
        </p:txBody>
      </p:sp>
      <p:sp>
        <p:nvSpPr>
          <p:cNvPr id="6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7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70ABC6C-3855-4AC0-A915-40CD7C6FEFB8}" type="slidenum">
              <a:rPr lang="zh-CN" altLang="en-US"/>
            </a:fld>
            <a:endParaRPr lang="zh-CN" altLang="en-US"/>
          </a:p>
        </p:txBody>
      </p:sp>
    </p:spTree>
  </p:cSld>
  <p:clrMapOvr>
    <a:masterClrMapping/>
  </p:clrMapOvr>
  <p:transition spd="med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504031" y="1450540"/>
            <a:ext cx="4454027" cy="604516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504031" y="2055058"/>
            <a:ext cx="4454027" cy="3733601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5120818" y="1450540"/>
            <a:ext cx="4455776" cy="604516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5120818" y="2055058"/>
            <a:ext cx="4455776" cy="3733601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7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CE4E19B-6CDB-4865-99DE-7E8AF2BFD50B}" type="datetimeFigureOut">
              <a:rPr lang="zh-CN" altLang="en-US"/>
            </a:fld>
            <a:endParaRPr lang="zh-CN" altLang="en-US"/>
          </a:p>
        </p:txBody>
      </p:sp>
      <p:sp>
        <p:nvSpPr>
          <p:cNvPr id="8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9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28B1BB4-E55F-4F5B-8248-C4E462107C68}" type="slidenum">
              <a:rPr lang="zh-CN" altLang="en-US"/>
            </a:fld>
            <a:endParaRPr lang="zh-CN" altLang="en-US"/>
          </a:p>
        </p:txBody>
      </p:sp>
    </p:spTree>
  </p:cSld>
  <p:clrMapOvr>
    <a:masterClrMapping/>
  </p:clrMapOvr>
  <p:transition spd="med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2C94AF3-AB55-4946-81DF-E2552D9298E4}" type="datetimeFigureOut">
              <a:rPr lang="zh-CN" altLang="en-US"/>
            </a:fld>
            <a:endParaRPr lang="zh-CN" altLang="en-US"/>
          </a:p>
        </p:txBody>
      </p:sp>
      <p:sp>
        <p:nvSpPr>
          <p:cNvPr id="4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5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8DA7F7F-B248-4083-827E-865C755D7492}" type="slidenum">
              <a:rPr lang="zh-CN" altLang="en-US"/>
            </a:fld>
            <a:endParaRPr lang="zh-CN" altLang="en-US"/>
          </a:p>
        </p:txBody>
      </p:sp>
    </p:spTree>
  </p:cSld>
  <p:clrMapOvr>
    <a:masterClrMapping/>
  </p:clrMapOvr>
  <p:transition spd="med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E0187D3-B77C-4204-973D-9793421D88BB}" type="datetimeFigureOut">
              <a:rPr lang="zh-CN" altLang="en-US"/>
            </a:fld>
            <a:endParaRPr lang="zh-CN" altLang="en-US"/>
          </a:p>
        </p:txBody>
      </p:sp>
      <p:sp>
        <p:nvSpPr>
          <p:cNvPr id="3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4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D5668B1-0B94-4128-B97F-F0488468FCE7}" type="slidenum">
              <a:rPr lang="zh-CN" altLang="en-US"/>
            </a:fld>
            <a:endParaRPr lang="zh-CN" altLang="en-US"/>
          </a:p>
        </p:txBody>
      </p:sp>
    </p:spTree>
  </p:cSld>
  <p:clrMapOvr>
    <a:masterClrMapping/>
  </p:clrMapOvr>
  <p:transition spd="med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504032" y="258007"/>
            <a:ext cx="3316456" cy="109803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941251" y="258007"/>
            <a:ext cx="5635349" cy="5530650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504032" y="1356037"/>
            <a:ext cx="3316456" cy="4432620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327F7E1-044E-4C0F-A563-C86FDDCD9DF8}" type="datetimeFigureOut">
              <a:rPr lang="zh-CN" altLang="en-US"/>
            </a:fld>
            <a:endParaRPr lang="zh-CN" altLang="en-US"/>
          </a:p>
        </p:txBody>
      </p:sp>
      <p:sp>
        <p:nvSpPr>
          <p:cNvPr id="6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7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ABA37E1-564A-4D6E-BD2E-99908B12B14F}" type="slidenum">
              <a:rPr lang="zh-CN" altLang="en-US"/>
            </a:fld>
            <a:endParaRPr lang="zh-CN" altLang="en-US"/>
          </a:p>
        </p:txBody>
      </p:sp>
    </p:spTree>
  </p:cSld>
  <p:clrMapOvr>
    <a:masterClrMapping/>
  </p:clrMapOvr>
  <p:transition spd="med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975881" y="4536122"/>
            <a:ext cx="6048375" cy="535515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975881" y="579018"/>
            <a:ext cx="6048375" cy="3888105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CN" altLang="en-US" noProof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975881" y="5071637"/>
            <a:ext cx="6048375" cy="760520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D98C7CA-C9CA-411F-AF75-CDCAEFB16CD0}" type="datetimeFigureOut">
              <a:rPr lang="zh-CN" altLang="en-US"/>
            </a:fld>
            <a:endParaRPr lang="zh-CN" altLang="en-US"/>
          </a:p>
        </p:txBody>
      </p:sp>
      <p:sp>
        <p:nvSpPr>
          <p:cNvPr id="6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7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24A8954-39D7-497E-B00E-AE2688406F81}" type="slidenum">
              <a:rPr lang="zh-CN" altLang="en-US"/>
            </a:fld>
            <a:endParaRPr lang="zh-CN" altLang="en-US"/>
          </a:p>
        </p:txBody>
      </p:sp>
    </p:spTree>
  </p:cSld>
  <p:clrMapOvr>
    <a:masterClrMapping/>
  </p:clrMapOvr>
  <p:transition spd="med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006E731-4A0D-4509-BEB3-FE481866E1B0}" type="datetimeFigureOut">
              <a:rPr lang="zh-CN" altLang="en-US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7340B9A-9CF7-40F3-8ABB-6EE206B09818}" type="slidenum">
              <a:rPr lang="zh-CN" altLang="en-US"/>
            </a:fld>
            <a:endParaRPr lang="zh-CN" altLang="en-US"/>
          </a:p>
        </p:txBody>
      </p:sp>
    </p:spTree>
  </p:cSld>
  <p:clrMapOvr>
    <a:masterClrMapping/>
  </p:clrMapOvr>
  <p:transition spd="med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7308461" y="259512"/>
            <a:ext cx="2268141" cy="5529149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504035" y="259512"/>
            <a:ext cx="6636411" cy="5529149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B186D2B-A8BF-46B0-8C4B-CF70CFCC3ADA}" type="datetimeFigureOut">
              <a:rPr lang="zh-CN" altLang="en-US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66924E5-B59B-473B-9A08-4706FE3698D0}" type="slidenum">
              <a:rPr lang="zh-CN" altLang="en-US"/>
            </a:fld>
            <a:endParaRPr lang="zh-CN" altLang="en-US"/>
          </a:p>
        </p:txBody>
      </p:sp>
    </p:spTree>
  </p:cSld>
  <p:clrMapOvr>
    <a:masterClrMapping/>
  </p:clrMapOvr>
  <p:transition spd="med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自定义版式">
    <p:bg>
      <p:bgPr>
        <a:blipFill rotWithShape="0"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504826" y="260350"/>
            <a:ext cx="9072563" cy="1079500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7" name="日期占位符 3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504031" y="6006163"/>
            <a:ext cx="2352146" cy="346010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/>
          <a:lstStyle>
            <a:lvl1pPr eaLnBrk="0" hangingPunct="0">
              <a:defRPr/>
            </a:lvl1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995AC1CF-E219-4766-8DC0-41BB495CC052}" type="datetime1">
              <a:rPr kumimoji="0" lang="zh-CN" altLang="en-US" sz="950" b="0" i="0" u="none" strike="noStrike" kern="1200" cap="none" spc="0" normalizeH="0" baseline="0" noProof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kumimoji="0" lang="zh-CN" altLang="en-US" sz="143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8" name="页脚占位符 4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444214" y="6006163"/>
            <a:ext cx="3192198" cy="346010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/>
          <a:lstStyle>
            <a:lvl1pPr eaLnBrk="0" hangingPunct="0">
              <a:defRPr/>
            </a:lvl1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zh-CN" sz="950" b="0" i="0" u="none" strike="noStrike" kern="1200" cap="none" spc="0" normalizeH="0" baseline="0" noProof="0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9" name="灯片编号占位符 5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7224448" y="6006163"/>
            <a:ext cx="2352146" cy="346010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/>
          <a:lstStyle>
            <a:lvl1pPr eaLnBrk="0" hangingPunct="0">
              <a:defRPr/>
            </a:lvl1pPr>
          </a:lstStyle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C1CB0432-D980-4760-B83A-75873C31E4E0}" type="slidenum">
              <a:rPr kumimoji="0" lang="zh-CN" altLang="en-US" sz="950" b="0" i="0" u="none" strike="noStrike" kern="1200" cap="none" spc="0" normalizeH="0" baseline="0" noProof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kumimoji="0" lang="zh-CN" altLang="en-US" sz="143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ransition spd="med"/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4" Type="http://schemas.openxmlformats.org/officeDocument/2006/relationships/theme" Target="../theme/theme1.xml"/><Relationship Id="rId13" Type="http://schemas.openxmlformats.org/officeDocument/2006/relationships/image" Target="../media/image2.jpeg"/><Relationship Id="rId12" Type="http://schemas.openxmlformats.org/officeDocument/2006/relationships/slideLayout" Target="../slideLayouts/slideLayout12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13" cstate="print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标题占位符 1"/>
          <p:cNvSpPr>
            <a:spLocks noGrp="1"/>
          </p:cNvSpPr>
          <p:nvPr>
            <p:ph type="title"/>
          </p:nvPr>
        </p:nvSpPr>
        <p:spPr bwMode="auto">
          <a:xfrm>
            <a:off x="503238" y="258763"/>
            <a:ext cx="9074150" cy="1081087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square" lIns="91440" tIns="45720" rIns="91440" bIns="45720" numCol="1" anchor="ctr" anchorCtr="0" compatLnSpc="1"/>
          <a:lstStyle/>
          <a:p>
            <a:pPr lvl="0"/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1027" name="文本占位符 2"/>
          <p:cNvSpPr>
            <a:spLocks noGrp="1"/>
          </p:cNvSpPr>
          <p:nvPr>
            <p:ph type="body" idx="1"/>
          </p:nvPr>
        </p:nvSpPr>
        <p:spPr bwMode="auto">
          <a:xfrm>
            <a:off x="503238" y="1511304"/>
            <a:ext cx="9074150" cy="427672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square" lIns="91440" tIns="45720" rIns="91440" bIns="45720" numCol="1" anchor="t" anchorCtr="0" compatLnSpc="1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503243" y="6005517"/>
            <a:ext cx="2352675" cy="34607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fld id="{D3502558-A47C-4770-8F39-F0351A881E8F}" type="datetimeFigureOut">
              <a:rPr lang="zh-CN" altLang="en-US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3444883" y="6005517"/>
            <a:ext cx="3190875" cy="34607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eaLnBrk="1" fontAlgn="auto" hangingPunct="1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7224721" y="6005517"/>
            <a:ext cx="2352675" cy="34607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/>
          <a:lstStyle>
            <a:lvl1pPr algn="r" eaLnBrk="1" hangingPunct="1">
              <a:defRPr sz="1200">
                <a:solidFill>
                  <a:srgbClr val="898989"/>
                </a:solidFill>
                <a:latin typeface="Calibri" panose="020F0502020204030204" pitchFamily="34" charset="0"/>
              </a:defRPr>
            </a:lvl1pPr>
          </a:lstStyle>
          <a:p>
            <a:pPr>
              <a:defRPr/>
            </a:pPr>
            <a:fld id="{CB882E90-29AB-4195-8428-F97C5506ACE4}" type="slidenum">
              <a:rPr lang="zh-CN" altLang="en-US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ransition spd="med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tags" Target="../tags/tag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3.xml"/><Relationship Id="rId4" Type="http://schemas.openxmlformats.org/officeDocument/2006/relationships/slideLayout" Target="../slideLayouts/slideLayout7.xml"/><Relationship Id="rId3" Type="http://schemas.openxmlformats.org/officeDocument/2006/relationships/image" Target="../media/image3.png"/><Relationship Id="rId2" Type="http://schemas.openxmlformats.org/officeDocument/2006/relationships/tags" Target="../tags/tag3.xml"/><Relationship Id="rId1" Type="http://schemas.openxmlformats.org/officeDocument/2006/relationships/tags" Target="../tags/tag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.xml"/><Relationship Id="rId2" Type="http://schemas.openxmlformats.org/officeDocument/2006/relationships/slideLayout" Target="../slideLayouts/slideLayout7.xml"/><Relationship Id="rId1" Type="http://schemas.openxmlformats.org/officeDocument/2006/relationships/tags" Target="../tags/tag4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/>
          <p:cNvSpPr txBox="1"/>
          <p:nvPr/>
        </p:nvSpPr>
        <p:spPr>
          <a:xfrm>
            <a:off x="719832" y="4896271"/>
            <a:ext cx="439248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8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XXX</a:t>
            </a:r>
            <a:r>
              <a:rPr lang="zh-CN" altLang="en-US" sz="28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零件定点汇报</a:t>
            </a:r>
            <a:endParaRPr lang="zh-CN" altLang="en-US" sz="28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p:transition spd="slow" advClick="0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标题 1"/>
          <p:cNvSpPr/>
          <p:nvPr/>
        </p:nvSpPr>
        <p:spPr>
          <a:xfrm>
            <a:off x="5616376" y="143743"/>
            <a:ext cx="4032448" cy="40011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 rtlCol="0" anchor="ctr">
            <a:spAutoFit/>
          </a:bodyPr>
          <a:lstStyle/>
          <a:p>
            <a:pPr algn="r" fontAlgn="ctr"/>
            <a:r>
              <a:rPr lang="zh-CN" altLang="en-US" sz="2000" b="1" noProof="1">
                <a:latin typeface="微软雅黑" panose="020B0503020204020204" pitchFamily="34" charset="-122"/>
                <a:ea typeface="微软雅黑" panose="020B0503020204020204" pitchFamily="34" charset="-122"/>
                <a:cs typeface="Adobe 楷体 Std R"/>
                <a:sym typeface="宋体" panose="02010600030101010101" pitchFamily="2" charset="-122"/>
              </a:rPr>
              <a:t>一、行业内供应商资源</a:t>
            </a:r>
            <a:endParaRPr lang="zh-CN" altLang="en-US" sz="2000" b="1" noProof="1">
              <a:latin typeface="微软雅黑" panose="020B0503020204020204" pitchFamily="34" charset="-122"/>
              <a:ea typeface="微软雅黑" panose="020B0503020204020204" pitchFamily="34" charset="-122"/>
              <a:cs typeface="Adobe 楷体 Std R"/>
              <a:sym typeface="宋体" panose="02010600030101010101" pitchFamily="2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255356" y="5530383"/>
            <a:ext cx="9612000" cy="307777"/>
          </a:xfrm>
          <a:prstGeom prst="rect">
            <a:avLst/>
          </a:prstGeom>
          <a:solidFill>
            <a:srgbClr val="FFFF00"/>
          </a:solidFill>
          <a:ln w="28575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zh-CN" altLang="en-US" sz="1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行业状态分析结论：</a:t>
            </a:r>
            <a:endParaRPr lang="en-US" altLang="zh-CN" sz="14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aphicFrame>
        <p:nvGraphicFramePr>
          <p:cNvPr id="9" name="表格 8"/>
          <p:cNvGraphicFramePr>
            <a:graphicFrameLocks noGrp="1"/>
          </p:cNvGraphicFramePr>
          <p:nvPr/>
        </p:nvGraphicFramePr>
        <p:xfrm>
          <a:off x="245665" y="866449"/>
          <a:ext cx="9612000" cy="4416119"/>
        </p:xfrm>
        <a:graphic>
          <a:graphicData uri="http://schemas.openxmlformats.org/drawingml/2006/table">
            <a:tbl>
              <a:tblPr/>
              <a:tblGrid>
                <a:gridCol w="1050231"/>
                <a:gridCol w="494392"/>
                <a:gridCol w="1874670"/>
                <a:gridCol w="739307"/>
                <a:gridCol w="1365385"/>
                <a:gridCol w="34220"/>
                <a:gridCol w="34220"/>
                <a:gridCol w="1002422"/>
                <a:gridCol w="769529"/>
                <a:gridCol w="2247624"/>
              </a:tblGrid>
              <a:tr h="235989">
                <a:tc gridSpan="2">
                  <a:txBody>
                    <a:bodyPr/>
                    <a:lstStyle/>
                    <a:p>
                      <a:pPr algn="ctr" rtl="0" fontAlgn="ctr"/>
                      <a:r>
                        <a:rPr lang="zh-CN" altLang="en-US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供应商名称</a:t>
                      </a:r>
                      <a:endParaRPr lang="zh-CN" altLang="en-US" sz="1200" b="1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8317" marR="8317" marT="8317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cPr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zh-CN" altLang="en-US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产品</a:t>
                      </a:r>
                      <a:endParaRPr lang="zh-CN" altLang="en-US" sz="1200" b="1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8317" marR="8317" marT="8317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 gridSpan="3">
                  <a:txBody>
                    <a:bodyPr/>
                    <a:lstStyle/>
                    <a:p>
                      <a:pPr algn="ctr" rtl="0" fontAlgn="ctr"/>
                      <a:r>
                        <a:rPr lang="zh-CN" altLang="en-US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审核人员</a:t>
                      </a:r>
                      <a:endParaRPr lang="zh-CN" altLang="en-US" sz="1200" b="1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8317" marR="8317" marT="8317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cPr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 hMerge="1">
                  <a:tcPr/>
                </a:tc>
                <a:tc gridSpan="3">
                  <a:txBody>
                    <a:bodyPr/>
                    <a:lstStyle/>
                    <a:p>
                      <a:pPr algn="ctr" rtl="0" fontAlgn="ctr"/>
                      <a:r>
                        <a:rPr lang="zh-CN" altLang="en-US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审核类别</a:t>
                      </a:r>
                      <a:endParaRPr lang="zh-CN" altLang="en-US" sz="1200" b="1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8317" marR="8317" marT="8317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cPr/>
                </a:tc>
                <a:tc hMerge="1">
                  <a:tcPr marL="8317" marR="8317" marT="8317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zh-CN" altLang="en-US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结论</a:t>
                      </a:r>
                      <a:endParaRPr lang="zh-CN" altLang="en-US" sz="1200" b="1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8317" marR="8317" marT="8317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</a:tr>
              <a:tr h="311784">
                <a:tc gridSpan="2"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zh-CN" altLang="en-US" sz="1000" b="0" i="0" u="none" strike="noStrike" dirty="0">
                        <a:solidFill>
                          <a:srgbClr val="000000"/>
                        </a:solidFill>
                        <a:effectLst/>
                        <a:highlight>
                          <a:srgbClr val="FFFF00"/>
                        </a:highlight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8317" marR="8317" marT="8317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 hMerge="1"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endParaRPr lang="zh-CN" altLang="en-US" sz="1000" b="0" i="0" u="none" strike="noStrike" dirty="0">
                        <a:solidFill>
                          <a:srgbClr val="000000"/>
                        </a:solidFill>
                        <a:effectLst/>
                        <a:highlight>
                          <a:srgbClr val="FFFF00"/>
                        </a:highlight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8317" marR="8317" marT="8317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 gridSpan="3">
                  <a:txBody>
                    <a:bodyPr/>
                    <a:lstStyle/>
                    <a:p>
                      <a:pPr algn="ctr" fontAlgn="ctr"/>
                      <a:endParaRPr lang="zh-CN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8317" marR="8317" marT="8317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cPr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cPr/>
                </a:tc>
                <a:tc gridSpan="3">
                  <a:txBody>
                    <a:bodyPr/>
                    <a:lstStyle/>
                    <a:p>
                      <a:pPr algn="ctr" rtl="0" fontAlgn="ctr"/>
                      <a:r>
                        <a:rPr lang="zh-CN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准入审核</a:t>
                      </a:r>
                      <a:endParaRPr lang="zh-CN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8317" marR="8317" marT="8317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cPr/>
                </a:tc>
                <a:tc hMerge="1">
                  <a:tcPr marL="8317" marR="8317" marT="8317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endParaRPr lang="en-US" altLang="zh-CN" sz="1000" b="0" i="0" u="none" strike="noStrike" dirty="0"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8317" marR="8317" marT="8317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97425">
                <a:tc gridSpan="10">
                  <a:txBody>
                    <a:bodyPr/>
                    <a:lstStyle/>
                    <a:p>
                      <a:pPr algn="ctr" fontAlgn="ctr"/>
                      <a:r>
                        <a:rPr lang="zh-CN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　</a:t>
                      </a:r>
                      <a:endParaRPr lang="zh-CN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8317" marR="8317" marT="8317" marB="0" anchor="ctr">
                    <a:lnL w="190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cPr/>
                </a:tc>
                <a:tc hMerge="1">
                  <a:tcPr/>
                </a:tc>
                <a:tc hMerge="1">
                  <a:tcPr/>
                </a:tc>
                <a:tc hMerge="1">
                  <a:tcPr/>
                </a:tc>
                <a:tc hMerge="1">
                  <a:tcPr/>
                </a:tc>
                <a:tc hMerge="1">
                  <a:tcPr/>
                </a:tc>
                <a:tc hMerge="1">
                  <a:tcPr/>
                </a:tc>
                <a:tc hMerge="1">
                  <a:tcPr/>
                </a:tc>
                <a:tc hMerge="1">
                  <a:tcPr/>
                </a:tc>
              </a:tr>
              <a:tr h="234867">
                <a:tc gridSpan="5">
                  <a:txBody>
                    <a:bodyPr/>
                    <a:lstStyle/>
                    <a:p>
                      <a:pPr algn="ctr" fontAlgn="ctr"/>
                      <a:r>
                        <a:rPr lang="zh-CN" altLang="en-US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主要主机厂供货分布</a:t>
                      </a:r>
                      <a:endParaRPr lang="zh-CN" altLang="en-US" sz="1200" b="1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8317" marR="8317" marT="8317" marB="0" anchor="ctr">
                    <a:lnL w="190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 hMerge="1">
                  <a:tcPr/>
                </a:tc>
                <a:tc hMerge="1">
                  <a:tcPr/>
                </a:tc>
                <a:tc hMerge="1">
                  <a:tcPr/>
                </a:tc>
                <a:tc hMerge="1">
                  <a:tcPr/>
                </a:tc>
                <a:tc rowSpan="8" gridSpan="2">
                  <a:txBody>
                    <a:bodyPr/>
                    <a:lstStyle/>
                    <a:p>
                      <a:pPr algn="ctr" fontAlgn="ctr"/>
                      <a:r>
                        <a:rPr lang="zh-CN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　</a:t>
                      </a:r>
                      <a:endParaRPr lang="zh-CN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8317" marR="8317" marT="8317" marB="0" anchor="ctr">
                    <a:lnL w="190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8" hMerge="1">
                  <a:tcPr marL="8317" marR="8317" marT="8317" marB="0" anchor="ctr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3"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行业产品梯队分布</a:t>
                      </a:r>
                      <a:r>
                        <a:rPr lang="en-US" altLang="zh-CN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-</a:t>
                      </a:r>
                      <a:r>
                        <a:rPr lang="zh-CN" altLang="en-US" sz="1200" b="1" dirty="0">
                          <a:solidFill>
                            <a:srgbClr val="0070C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蓝色加粗</a:t>
                      </a:r>
                      <a:r>
                        <a:rPr lang="zh-CN" altLang="en-US" sz="12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为吉利体系内供应商</a:t>
                      </a:r>
                      <a:endParaRPr lang="zh-CN" altLang="en-US" sz="12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8317" marR="8317" marT="8317" marB="0" anchor="ctr">
                    <a:lnL w="190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 hMerge="1">
                  <a:tcPr/>
                </a:tc>
                <a:tc hMerge="1">
                  <a:tcPr/>
                </a:tc>
              </a:tr>
              <a:tr h="471980">
                <a:tc>
                  <a:txBody>
                    <a:bodyPr/>
                    <a:lstStyle/>
                    <a:p>
                      <a:pPr algn="ctr" rtl="0" fontAlgn="ctr"/>
                      <a:r>
                        <a:rPr lang="zh-CN" altLang="en-US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主机厂</a:t>
                      </a:r>
                      <a:endParaRPr lang="zh-CN" altLang="en-US" sz="1200" b="1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8317" marR="8317" marT="8317" marB="0" anchor="ctr">
                    <a:lnL w="190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 rtl="0" fontAlgn="ctr"/>
                      <a:r>
                        <a:rPr lang="zh-CN" altLang="en-US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主要供应商</a:t>
                      </a:r>
                      <a:endParaRPr lang="zh-CN" altLang="en-US" sz="1200" b="1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8317" marR="8317" marT="8317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 hMerge="1">
                  <a:tcPr marL="8317" marR="8317" marT="8317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zh-CN" altLang="en-US" sz="1050" b="1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供应商数量</a:t>
                      </a:r>
                      <a:endParaRPr lang="zh-CN" altLang="en-US" sz="1050" b="1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8317" marR="8317" marT="8317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zh-CN" altLang="en-US" sz="1050" b="1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该供应商所供主销车型</a:t>
                      </a:r>
                      <a:endParaRPr lang="zh-CN" altLang="en-US" sz="1050" b="1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8317" marR="8317" marT="8317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 vMerge="1" gridSpan="2">
                  <a:tcPr/>
                </a:tc>
                <a:tc vMerge="1" hMerge="1">
                  <a:tcPr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zh-CN" altLang="en-US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类别</a:t>
                      </a:r>
                      <a:endParaRPr lang="zh-CN" altLang="en-US" sz="1200" b="1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8317" marR="8317" marT="8317" marB="0" anchor="ctr">
                    <a:lnL w="190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 rtl="0" fontAlgn="ctr"/>
                      <a:r>
                        <a:rPr lang="zh-CN" altLang="en-US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供应商名称</a:t>
                      </a:r>
                      <a:endParaRPr lang="zh-CN" altLang="en-US" sz="1200" b="1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8317" marR="8317" marT="8317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 hMerge="1">
                  <a:tcPr marL="8317" marR="8317" marT="8317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</a:tr>
              <a:tr h="460790">
                <a:tc>
                  <a:txBody>
                    <a:bodyPr/>
                    <a:lstStyle/>
                    <a:p>
                      <a:pPr algn="ctr" rtl="0" fontAlgn="ctr"/>
                      <a:r>
                        <a:rPr lang="zh-CN" altLang="en-US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中国长安</a:t>
                      </a:r>
                      <a:endParaRPr lang="zh-CN" altLang="en-US" sz="1200" b="1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8317" marR="8317" marT="8317" marB="0" anchor="ctr">
                    <a:lnL w="190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 gridSpan="3">
                  <a:txBody>
                    <a:bodyPr/>
                    <a:lstStyle/>
                    <a:p>
                      <a:pPr algn="ctr"/>
                      <a:r>
                        <a:rPr lang="zh-CN" altLang="en-US" sz="1200" b="1" kern="120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宣城立讯精密股份有限公司</a:t>
                      </a:r>
                      <a:r>
                        <a:rPr lang="en-US" altLang="zh-CN" sz="1200" b="1" kern="120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/</a:t>
                      </a:r>
                      <a:endParaRPr lang="en-US" altLang="zh-CN" sz="1200" b="1" kern="1200" dirty="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  <a:p>
                      <a:pPr algn="ctr"/>
                      <a:r>
                        <a:rPr lang="zh-CN" altLang="en-US" sz="1200" b="1" kern="120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昆山联滔电子有限公司</a:t>
                      </a:r>
                      <a:endParaRPr lang="zh-CN" altLang="en-US" sz="1200" b="1" kern="1200" dirty="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 marL="72000" marR="72000" marT="36000" marB="3600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 hMerge="1">
                  <a:tcPr marL="100812" marR="100812" marT="50397" marB="50397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cPr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200" b="1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凯程商务车</a:t>
                      </a:r>
                      <a:endParaRPr lang="en-US" altLang="zh-CN" sz="1200" b="1" dirty="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72000" marR="72000" marT="36000" marB="3600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 vMerge="1" gridSpan="2">
                  <a:tcPr/>
                </a:tc>
                <a:tc vMerge="1" hMerge="1">
                  <a:tcPr/>
                </a:tc>
                <a:tc rowSpan="2">
                  <a:txBody>
                    <a:bodyPr/>
                    <a:lstStyle/>
                    <a:p>
                      <a:pPr algn="ctr" rtl="0" fontAlgn="ctr"/>
                      <a:r>
                        <a:rPr lang="zh-CN" altLang="en-US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第一梯队</a:t>
                      </a:r>
                      <a:endParaRPr lang="zh-CN" altLang="en-US" sz="1200" b="1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8317" marR="8317" marT="8317" marB="0" anchor="ctr">
                    <a:lnL w="190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2" gridSpan="2"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en-US" altLang="zh-CN" sz="1200" b="1" kern="1200" dirty="0">
                        <a:solidFill>
                          <a:schemeClr val="accent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  <a:sym typeface="+mn-ea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rgbClr val="FFFF00"/>
                    </a:solidFill>
                  </a:tcPr>
                </a:tc>
                <a:tc rowSpan="2" hMerge="1"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72030">
                <a:tc>
                  <a:txBody>
                    <a:bodyPr/>
                    <a:lstStyle/>
                    <a:p>
                      <a:pPr algn="ctr" rtl="0" fontAlgn="ctr"/>
                      <a:endParaRPr lang="zh-CN" altLang="en-US" sz="1200" b="1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8317" marR="8317" marT="8317" marB="0" anchor="ctr">
                    <a:lnL w="190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 gridSpan="3">
                  <a:txBody>
                    <a:bodyPr/>
                    <a:lstStyle/>
                    <a:p>
                      <a:pPr algn="ctr"/>
                      <a:endParaRPr lang="zh-CN" altLang="en-US" sz="1200" b="1" dirty="0">
                        <a:latin typeface="微软雅黑" panose="020B0503020204020204" pitchFamily="34" charset="-122"/>
                        <a:ea typeface="微软雅黑" panose="020B0503020204020204" pitchFamily="34" charset="-122"/>
                        <a:sym typeface="+mn-ea"/>
                      </a:endParaRPr>
                    </a:p>
                  </a:txBody>
                  <a:tcPr marL="72000" marR="72000" marT="36000" marB="3600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 hMerge="1">
                  <a:tcPr marL="100812" marR="100812" marT="50397" marB="50397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cPr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altLang="zh-CN" sz="1200" b="1" dirty="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72000" marR="72000" marT="36000" marB="3600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 vMerge="1" gridSpan="2">
                  <a:tcPr/>
                </a:tc>
                <a:tc vMerge="1" hMerge="1">
                  <a:tcPr/>
                </a:tc>
                <a:tc vMerge="1">
                  <a:tcPr/>
                </a:tc>
                <a:tc vMerge="1" gridSpan="2">
                  <a:tcPr marL="9525" marR="9525" marT="9525" marB="0" anchor="ctr"/>
                </a:tc>
                <a:tc vMerge="1" hMerge="1">
                  <a:tcPr marL="9525" marR="9525" marT="9525" marB="0" anchor="ctr"/>
                </a:tc>
              </a:tr>
              <a:tr h="393315">
                <a:tc>
                  <a:txBody>
                    <a:bodyPr/>
                    <a:lstStyle/>
                    <a:p>
                      <a:pPr algn="ctr" rtl="0" fontAlgn="ctr"/>
                      <a:endParaRPr lang="zh-CN" altLang="en-US" sz="1200" b="1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8317" marR="8317" marT="8317" marB="0" anchor="ctr">
                    <a:lnL w="190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 gridSpan="3">
                  <a:txBody>
                    <a:bodyPr/>
                    <a:lstStyle/>
                    <a:p>
                      <a:pPr algn="ctr"/>
                      <a:endParaRPr lang="zh-CN" altLang="en-US" sz="1200" b="1" kern="1200" noProof="0" dirty="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 marL="72000" marR="72000" marT="36000" marB="3600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 hMerge="1">
                  <a:tcPr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cPr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altLang="zh-CN" sz="1200" b="1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72000" marR="72000" marT="36000" marB="3600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 vMerge="1" gridSpan="2">
                  <a:tcPr/>
                </a:tc>
                <a:tc vMerge="1" hMerge="1">
                  <a:tcPr/>
                </a:tc>
                <a:tc rowSpan="2">
                  <a:txBody>
                    <a:bodyPr/>
                    <a:lstStyle/>
                    <a:p>
                      <a:pPr algn="ctr" rtl="0" fontAlgn="ctr"/>
                      <a:r>
                        <a:rPr lang="zh-CN" altLang="en-US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第二梯队</a:t>
                      </a:r>
                      <a:endParaRPr lang="zh-CN" altLang="en-US" sz="1200" b="1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8317" marR="8317" marT="8317" marB="0" anchor="ctr">
                    <a:lnL w="190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2" gridSpan="2"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zh-CN" altLang="en-US" sz="1200" b="1" kern="1200" dirty="0">
                        <a:solidFill>
                          <a:schemeClr val="accent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  <a:sym typeface="+mn-ea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rgbClr val="FFFF00"/>
                    </a:solidFill>
                  </a:tcPr>
                </a:tc>
                <a:tc rowSpan="2" hMerge="1"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72030">
                <a:tc>
                  <a:txBody>
                    <a:bodyPr/>
                    <a:lstStyle/>
                    <a:p>
                      <a:pPr algn="ctr" rtl="0" fontAlgn="ctr"/>
                      <a:endParaRPr lang="zh-CN" altLang="en-US" sz="1200" b="1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8317" marR="8317" marT="8317" marB="0" anchor="ctr">
                    <a:lnL w="190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 gridSpan="3">
                  <a:txBody>
                    <a:bodyPr/>
                    <a:lstStyle/>
                    <a:p>
                      <a:pPr algn="ctr"/>
                      <a:endParaRPr lang="zh-CN" altLang="en-US" sz="1200" b="1" kern="1200" dirty="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 marL="72000" marR="72000" marT="36000" marB="3600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 hMerge="1">
                  <a:tcPr marL="100812" marR="100812" marT="50397" marB="50397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cPr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altLang="zh-CN" sz="1200" b="1" dirty="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72000" marR="72000" marT="36000" marB="3600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 vMerge="1" gridSpan="2">
                  <a:tcPr/>
                </a:tc>
                <a:tc vMerge="1" hMerge="1">
                  <a:tcPr/>
                </a:tc>
                <a:tc vMerge="1">
                  <a:tcPr/>
                </a:tc>
                <a:tc vMerge="1" gridSpan="2">
                  <a:tcPr marL="9525" marR="9525" marT="9525" marB="0" anchor="ctr"/>
                </a:tc>
                <a:tc vMerge="1" hMerge="1">
                  <a:tcPr marL="9525" marR="9525" marT="9525" marB="0" anchor="ctr"/>
                </a:tc>
              </a:tr>
              <a:tr h="393315">
                <a:tc>
                  <a:txBody>
                    <a:bodyPr/>
                    <a:lstStyle/>
                    <a:p>
                      <a:pPr algn="ctr" rtl="0" fontAlgn="ctr"/>
                      <a:endParaRPr lang="zh-CN" altLang="en-US" sz="1200" b="1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8317" marR="8317" marT="8317" marB="0" anchor="ctr">
                    <a:lnL w="190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 gridSpan="3">
                  <a:txBody>
                    <a:bodyPr/>
                    <a:lstStyle/>
                    <a:p>
                      <a:pPr algn="ctr" rtl="0" fontAlgn="ctr"/>
                      <a:endParaRPr lang="en-US" altLang="zh-CN" sz="1200" b="1" dirty="0"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sym typeface="+mn-ea"/>
                      </a:endParaRPr>
                    </a:p>
                  </a:txBody>
                  <a:tcPr marL="72000" marR="72000" marT="36000" marB="3600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 hMerge="1">
                  <a:tcPr marL="100812" marR="100812" marT="50397" marB="50397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cPr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altLang="zh-CN" sz="1200" b="1" dirty="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72000" marR="72000" marT="36000" marB="3600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 vMerge="1" gridSpan="2">
                  <a:tcPr/>
                </a:tc>
                <a:tc vMerge="1" hMerge="1">
                  <a:tcPr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zh-CN" altLang="en-US" sz="1200" b="1" kern="120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第三梯队</a:t>
                      </a:r>
                      <a:endParaRPr lang="zh-CN" altLang="en-US" sz="1200" b="1" kern="1200" dirty="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 marL="8317" marR="8317" marT="8317" marB="0" anchor="ctr">
                    <a:lnL w="190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zh-CN" altLang="en-US" sz="1200" b="1" kern="1200" dirty="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rgbClr val="FFFF00"/>
                    </a:solidFill>
                  </a:tcPr>
                </a:tc>
                <a:tc hMerge="1"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6297">
                <a:tc>
                  <a:txBody>
                    <a:bodyPr/>
                    <a:lstStyle/>
                    <a:p>
                      <a:pPr algn="ctr" rtl="0" fontAlgn="ctr"/>
                      <a:endParaRPr lang="zh-CN" altLang="en-US" sz="1200" b="1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8317" marR="8317" marT="8317" marB="0" anchor="ctr">
                    <a:lnL w="190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 gridSpan="3">
                  <a:txBody>
                    <a:bodyPr/>
                    <a:lstStyle/>
                    <a:p>
                      <a:pPr algn="ctr">
                        <a:buNone/>
                      </a:pPr>
                      <a:endParaRPr lang="zh-CN" altLang="en-US" sz="1200" b="1" dirty="0">
                        <a:latin typeface="微软雅黑" panose="020B0503020204020204" pitchFamily="34" charset="-122"/>
                        <a:ea typeface="微软雅黑" panose="020B0503020204020204" pitchFamily="34" charset="-122"/>
                        <a:sym typeface="+mn-ea"/>
                      </a:endParaRPr>
                    </a:p>
                  </a:txBody>
                  <a:tcPr marL="72000" marR="72000" marT="36000" marB="3600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 hMerge="1">
                  <a:tcPr marL="100812" marR="100812" marT="50397" marB="50397" anchor="ctr"/>
                </a:tc>
                <a:tc hMerge="1">
                  <a:tcPr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altLang="zh-CN" sz="1200" b="1" dirty="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72000" marR="72000" marT="36000" marB="3600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 vMerge="1" gridSpan="2">
                  <a:tcPr marL="8317" marR="8317" marT="8317" marB="0" anchor="ctr">
                    <a:lnL w="190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 hMerge="1">
                  <a:tcPr/>
                </a:tc>
                <a:tc>
                  <a:txBody>
                    <a:bodyPr/>
                    <a:lstStyle/>
                    <a:p>
                      <a:pPr algn="ctr" rtl="0" fontAlgn="ctr"/>
                      <a:endParaRPr lang="zh-CN" altLang="en-US" sz="1200" b="1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8317" marR="8317" marT="8317" marB="0" anchor="ctr">
                    <a:lnL w="190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zh-CN" altLang="en-US" sz="1000" b="0" i="0" u="none" strike="noStrike" kern="1200" dirty="0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 hMerge="1">
                  <a:tcPr/>
                </a:tc>
              </a:tr>
              <a:tr h="386297">
                <a:tc>
                  <a:txBody>
                    <a:bodyPr/>
                    <a:lstStyle/>
                    <a:p>
                      <a:pPr algn="ctr" rtl="0" fontAlgn="ctr"/>
                      <a:endParaRPr lang="zh-CN" altLang="en-US" sz="1200" b="1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8317" marR="8317" marT="8317" marB="0" anchor="ctr">
                    <a:lnL w="190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 gridSpan="3">
                  <a:txBody>
                    <a:bodyPr/>
                    <a:lstStyle/>
                    <a:p>
                      <a:pPr algn="ctr">
                        <a:buNone/>
                      </a:pPr>
                      <a:endParaRPr lang="zh-CN" altLang="en-US" sz="1200" b="1" dirty="0">
                        <a:latin typeface="微软雅黑" panose="020B0503020204020204" pitchFamily="34" charset="-122"/>
                        <a:ea typeface="微软雅黑" panose="020B0503020204020204" pitchFamily="34" charset="-122"/>
                        <a:sym typeface="+mn-ea"/>
                      </a:endParaRPr>
                    </a:p>
                  </a:txBody>
                  <a:tcPr marL="72000" marR="72000" marT="36000" marB="3600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 hMerge="1">
                  <a:tcPr/>
                </a:tc>
                <a:tc hMerge="1"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altLang="zh-CN" sz="1200" b="1" dirty="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72000" marR="72000" marT="36000" marB="3600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 fontAlgn="ctr"/>
                      <a:endParaRPr lang="zh-CN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8317" marR="8317" marT="8317" marB="0" anchor="ctr">
                    <a:lnL w="190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cPr/>
                </a:tc>
                <a:tc>
                  <a:txBody>
                    <a:bodyPr/>
                    <a:lstStyle/>
                    <a:p>
                      <a:pPr algn="ctr" rtl="0" fontAlgn="ctr"/>
                      <a:endParaRPr lang="zh-CN" altLang="en-US" sz="1200" b="1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8317" marR="8317" marT="8317" marB="0" anchor="ctr">
                    <a:lnL w="190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zh-CN" altLang="en-US" sz="1000" b="0" i="0" u="none" strike="noStrike" kern="1200" dirty="0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 hMerge="1">
                  <a:tcPr/>
                </a:tc>
              </a:tr>
            </a:tbl>
          </a:graphicData>
        </a:graphic>
      </p:graphicFrame>
      <p:sp>
        <p:nvSpPr>
          <p:cNvPr id="3" name="矩形 2"/>
          <p:cNvSpPr/>
          <p:nvPr/>
        </p:nvSpPr>
        <p:spPr bwMode="auto">
          <a:xfrm>
            <a:off x="1079872" y="3734270"/>
            <a:ext cx="3816424" cy="307777"/>
          </a:xfrm>
          <a:prstGeom prst="rect">
            <a:avLst/>
          </a:prstGeom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wrap="square" rtlCol="0" anchor="ctr">
            <a:spAutoFit/>
          </a:bodyPr>
          <a:lstStyle/>
          <a:p>
            <a:pPr algn="ctr" fontAlgn="ctr"/>
            <a:r>
              <a:rPr kumimoji="1" lang="en-US" altLang="zh-CN" sz="1400" b="1" dirty="0">
                <a:latin typeface="微软雅黑" panose="020B0503020204020204" pitchFamily="34" charset="-122"/>
                <a:ea typeface="微软雅黑" panose="020B0503020204020204" pitchFamily="34" charset="-122"/>
                <a:cs typeface="Adobe 楷体 Std R"/>
              </a:rPr>
              <a:t>EPM</a:t>
            </a:r>
            <a:endParaRPr kumimoji="1" lang="zh-CN" altLang="en-US" sz="1400" b="1" dirty="0">
              <a:latin typeface="微软雅黑" panose="020B0503020204020204" pitchFamily="34" charset="-122"/>
              <a:ea typeface="微软雅黑" panose="020B0503020204020204" pitchFamily="34" charset="-122"/>
              <a:cs typeface="Adobe 楷体 Std R"/>
            </a:endParaRPr>
          </a:p>
        </p:txBody>
      </p:sp>
    </p:spTree>
  </p:cSld>
  <p:clrMapOvr>
    <a:masterClrMapping/>
  </p:clrMapOvr>
  <p:transition spd="slow" advClick="0"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表格 2"/>
          <p:cNvGraphicFramePr>
            <a:graphicFrameLocks noGrp="1"/>
          </p:cNvGraphicFramePr>
          <p:nvPr>
            <p:custDataLst>
              <p:tags r:id="rId1"/>
            </p:custDataLst>
          </p:nvPr>
        </p:nvGraphicFramePr>
        <p:xfrm>
          <a:off x="245745" y="767715"/>
          <a:ext cx="9620885" cy="4794885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906145"/>
                <a:gridCol w="1680210"/>
                <a:gridCol w="840105"/>
                <a:gridCol w="3456339"/>
                <a:gridCol w="2738086"/>
              </a:tblGrid>
              <a:tr h="214881"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200" u="none" strike="noStrike" dirty="0"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主要维度</a:t>
                      </a:r>
                      <a:endParaRPr lang="zh-CN" altLang="en-US" sz="1200" b="1" i="0" u="none" strike="noStrike" dirty="0"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 gridSpan="3">
                  <a:txBody>
                    <a:bodyPr/>
                    <a:lstStyle/>
                    <a:p>
                      <a:pPr algn="ctr" fontAlgn="ctr"/>
                      <a:r>
                        <a:rPr lang="zh-CN" altLang="en-US" sz="1200" u="none" strike="noStrike" dirty="0"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内容</a:t>
                      </a:r>
                      <a:endParaRPr lang="zh-CN" altLang="en-US" sz="1200" b="1" i="0" u="none" strike="noStrike" dirty="0"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cPr/>
                </a:tc>
                <a:tc hMerge="1"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200" u="none" strike="noStrike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资料展示</a:t>
                      </a:r>
                      <a:endParaRPr lang="zh-CN" altLang="en-US" sz="1200" b="1" i="0" u="none" strike="noStrike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</a:tr>
              <a:tr h="1478164"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200" b="1" u="none" strike="noStrike" dirty="0"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准入产品</a:t>
                      </a:r>
                      <a:r>
                        <a:rPr lang="en-US" altLang="zh-CN" sz="1200" b="1" u="none" strike="noStrike" dirty="0"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/</a:t>
                      </a:r>
                      <a:r>
                        <a:rPr lang="zh-CN" altLang="en-US" sz="1200" b="1" u="none" strike="noStrike" dirty="0"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供应商简介</a:t>
                      </a:r>
                      <a:endParaRPr lang="zh-CN" altLang="en-US" sz="1200" b="1" i="0" u="none" strike="noStrike" dirty="0"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3">
                  <a:txBody>
                    <a:bodyPr/>
                    <a:lstStyle/>
                    <a:p>
                      <a:pPr lvl="0">
                        <a:defRPr/>
                      </a:pPr>
                      <a:r>
                        <a:rPr lang="en-US" altLang="zh-CN" sz="1000" kern="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Arial" panose="020B0604020202020204" pitchFamily="34" charset="0"/>
                        </a:rPr>
                        <a:t>1</a:t>
                      </a:r>
                      <a:r>
                        <a:rPr lang="zh-CN" altLang="en-US" sz="1000" kern="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Arial" panose="020B0604020202020204" pitchFamily="34" charset="0"/>
                        </a:rPr>
                        <a:t>、</a:t>
                      </a:r>
                      <a:r>
                        <a:rPr lang="en-US" altLang="zh-CN" sz="1000" kern="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Arial" panose="020B0604020202020204" pitchFamily="34" charset="0"/>
                        </a:rPr>
                        <a:t>XXX</a:t>
                      </a:r>
                      <a:r>
                        <a:rPr lang="zh-CN" altLang="en-US" sz="1000" kern="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Arial" panose="020B0604020202020204" pitchFamily="34" charset="0"/>
                        </a:rPr>
                        <a:t>公司于</a:t>
                      </a:r>
                      <a:r>
                        <a:rPr lang="en-US" altLang="zh-CN" sz="1000" kern="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Arial" panose="020B0604020202020204" pitchFamily="34" charset="0"/>
                        </a:rPr>
                        <a:t>XX</a:t>
                      </a:r>
                      <a:r>
                        <a:rPr lang="zh-CN" altLang="en-US" sz="1000" kern="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Arial" panose="020B0604020202020204" pitchFamily="34" charset="0"/>
                        </a:rPr>
                        <a:t>年</a:t>
                      </a:r>
                      <a:r>
                        <a:rPr lang="en-US" altLang="zh-CN" sz="1000" kern="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Arial" panose="020B0604020202020204" pitchFamily="34" charset="0"/>
                        </a:rPr>
                        <a:t>XX</a:t>
                      </a:r>
                      <a:r>
                        <a:rPr lang="zh-CN" altLang="en-US" sz="1000" kern="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Arial" panose="020B0604020202020204" pitchFamily="34" charset="0"/>
                        </a:rPr>
                        <a:t>月由</a:t>
                      </a:r>
                      <a:r>
                        <a:rPr lang="en-US" altLang="zh-CN" sz="1000" kern="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Arial" panose="020B0604020202020204" pitchFamily="34" charset="0"/>
                        </a:rPr>
                        <a:t>XXX</a:t>
                      </a:r>
                      <a:r>
                        <a:rPr lang="zh-CN" altLang="en-US" sz="1000" kern="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Arial" panose="020B0604020202020204" pitchFamily="34" charset="0"/>
                        </a:rPr>
                        <a:t>等</a:t>
                      </a:r>
                      <a:r>
                        <a:rPr lang="en-US" altLang="zh-CN" sz="1000" kern="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Arial" panose="020B0604020202020204" pitchFamily="34" charset="0"/>
                        </a:rPr>
                        <a:t>XX</a:t>
                      </a:r>
                      <a:r>
                        <a:rPr lang="zh-CN" altLang="en-US" sz="1000" kern="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Arial" panose="020B0604020202020204" pitchFamily="34" charset="0"/>
                        </a:rPr>
                        <a:t>名技术核心人员成立，总部</a:t>
                      </a:r>
                      <a:r>
                        <a:rPr lang="en-US" altLang="zh-CN" sz="1000" kern="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Arial" panose="020B0604020202020204" pitchFamily="34" charset="0"/>
                        </a:rPr>
                        <a:t>&amp;</a:t>
                      </a:r>
                      <a:r>
                        <a:rPr lang="zh-CN" altLang="en-US" sz="1000" kern="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Arial" panose="020B0604020202020204" pitchFamily="34" charset="0"/>
                        </a:rPr>
                        <a:t>研发</a:t>
                      </a:r>
                      <a:r>
                        <a:rPr lang="en-US" altLang="zh-CN" sz="1000" kern="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Arial" panose="020B0604020202020204" pitchFamily="34" charset="0"/>
                        </a:rPr>
                        <a:t>&amp;</a:t>
                      </a:r>
                      <a:r>
                        <a:rPr lang="zh-CN" altLang="en-US" sz="1000" kern="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Arial" panose="020B0604020202020204" pitchFamily="34" charset="0"/>
                        </a:rPr>
                        <a:t>测试在江苏昆山，生产制造基地在江苏昆山</a:t>
                      </a:r>
                      <a:r>
                        <a:rPr lang="en-US" altLang="zh-CN" sz="1000" kern="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Arial" panose="020B0604020202020204" pitchFamily="34" charset="0"/>
                        </a:rPr>
                        <a:t>;</a:t>
                      </a:r>
                      <a:endParaRPr lang="en-US" altLang="zh-CN" sz="1000" kern="0" dirty="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Arial" panose="020B0604020202020204" pitchFamily="34" charset="0"/>
                      </a:endParaRPr>
                    </a:p>
                    <a:p>
                      <a:pPr lvl="0">
                        <a:defRPr/>
                      </a:pPr>
                      <a:r>
                        <a:rPr lang="en-US" altLang="zh-CN" sz="1000" kern="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Arial" panose="020B0604020202020204" pitchFamily="34" charset="0"/>
                        </a:rPr>
                        <a:t>2</a:t>
                      </a:r>
                      <a:r>
                        <a:rPr lang="zh-CN" altLang="en-US" sz="1000" kern="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Arial" panose="020B0604020202020204" pitchFamily="34" charset="0"/>
                        </a:rPr>
                        <a:t>、已量产的模块类项目：中国长安凯程商务车车型</a:t>
                      </a:r>
                      <a:r>
                        <a:rPr lang="en-US" altLang="zh-CN" sz="1000" kern="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Arial" panose="020B0604020202020204" pitchFamily="34" charset="0"/>
                        </a:rPr>
                        <a:t>ERDU60</a:t>
                      </a:r>
                      <a:r>
                        <a:rPr lang="zh-CN" altLang="en-US" sz="1000" kern="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Arial" panose="020B0604020202020204" pitchFamily="34" charset="0"/>
                        </a:rPr>
                        <a:t>项目</a:t>
                      </a:r>
                      <a:r>
                        <a:rPr lang="zh-CN" altLang="en-US" sz="1000" kern="0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Arial" panose="020B0604020202020204" pitchFamily="34" charset="0"/>
                        </a:rPr>
                        <a:t>（例如极氪</a:t>
                      </a:r>
                      <a:r>
                        <a:rPr lang="en-US" altLang="zh-CN" sz="1000" kern="0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Arial" panose="020B0604020202020204" pitchFamily="34" charset="0"/>
                        </a:rPr>
                        <a:t>DC1EA2</a:t>
                      </a:r>
                      <a:r>
                        <a:rPr lang="zh-CN" altLang="en-US" sz="1000" kern="0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Arial" panose="020B0604020202020204" pitchFamily="34" charset="0"/>
                        </a:rPr>
                        <a:t>项目；蔚来</a:t>
                      </a:r>
                      <a:r>
                        <a:rPr lang="en-US" altLang="zh-CN" sz="1000" kern="0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Arial" panose="020B0604020202020204" pitchFamily="34" charset="0"/>
                        </a:rPr>
                        <a:t>NT1.0&amp;2.0</a:t>
                      </a:r>
                      <a:r>
                        <a:rPr lang="zh-CN" altLang="en-US" sz="1000" kern="0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Arial" panose="020B0604020202020204" pitchFamily="34" charset="0"/>
                        </a:rPr>
                        <a:t>平台所有车型；</a:t>
                      </a:r>
                      <a:r>
                        <a:rPr lang="en-US" altLang="zh-CN" sz="1000" kern="0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Arial" panose="020B0604020202020204" pitchFamily="34" charset="0"/>
                        </a:rPr>
                        <a:t>Smart HY11</a:t>
                      </a:r>
                      <a:r>
                        <a:rPr lang="zh-CN" altLang="en-US" sz="1000" kern="0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Arial" panose="020B0604020202020204" pitchFamily="34" charset="0"/>
                        </a:rPr>
                        <a:t>项目；）</a:t>
                      </a:r>
                      <a:endParaRPr lang="en-US" altLang="zh-CN" sz="1000" kern="0" dirty="0">
                        <a:solidFill>
                          <a:schemeClr val="bg1">
                            <a:lumMod val="50000"/>
                          </a:schemeClr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Arial" panose="020B0604020202020204" pitchFamily="34" charset="0"/>
                      </a:endParaRPr>
                    </a:p>
                    <a:p>
                      <a:pPr lvl="0">
                        <a:defRPr/>
                      </a:pPr>
                      <a:r>
                        <a:rPr lang="en-US" altLang="zh-CN" sz="1000" kern="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Arial" panose="020B0604020202020204" pitchFamily="34" charset="0"/>
                        </a:rPr>
                        <a:t>3</a:t>
                      </a:r>
                      <a:r>
                        <a:rPr lang="zh-CN" altLang="en-US" sz="1000" kern="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Arial" panose="020B0604020202020204" pitchFamily="34" charset="0"/>
                        </a:rPr>
                        <a:t>、公司总人数</a:t>
                      </a:r>
                      <a:r>
                        <a:rPr lang="en-US" altLang="zh-CN" sz="1000" kern="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Arial" panose="020B0604020202020204" pitchFamily="34" charset="0"/>
                        </a:rPr>
                        <a:t>3067</a:t>
                      </a:r>
                      <a:r>
                        <a:rPr lang="zh-CN" altLang="en-US" sz="1000" kern="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Arial" panose="020B0604020202020204" pitchFamily="34" charset="0"/>
                        </a:rPr>
                        <a:t>，研发人员占比</a:t>
                      </a:r>
                      <a:r>
                        <a:rPr lang="en-US" altLang="zh-CN" sz="1000" kern="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Arial" panose="020B0604020202020204" pitchFamily="34" charset="0"/>
                        </a:rPr>
                        <a:t>13.7%</a:t>
                      </a:r>
                      <a:r>
                        <a:rPr lang="zh-CN" altLang="en-US" sz="1000" kern="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Arial" panose="020B0604020202020204" pitchFamily="34" charset="0"/>
                        </a:rPr>
                        <a:t>；</a:t>
                      </a:r>
                      <a:endParaRPr lang="en-US" altLang="zh-CN" sz="1000" kern="0" dirty="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Arial" panose="020B0604020202020204" pitchFamily="34" charset="0"/>
                      </a:endParaRP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1000" kern="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Arial" panose="020B0604020202020204" pitchFamily="34" charset="0"/>
                        </a:rPr>
                        <a:t>4</a:t>
                      </a:r>
                      <a:r>
                        <a:rPr lang="zh-CN" altLang="en-US" sz="1000" kern="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Arial" panose="020B0604020202020204" pitchFamily="34" charset="0"/>
                        </a:rPr>
                        <a:t>、研发能力：具备结构、硬件、软件、测试等技术研发能力，拥有专业的仿真、开发及测试能力，拥有模具开发、冲压压铸注塑结构件零件开发能力</a:t>
                      </a:r>
                      <a:endParaRPr lang="en-US" altLang="zh-CN" sz="1000" kern="0" dirty="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Arial" panose="020B0604020202020204" pitchFamily="34" charset="0"/>
                      </a:endParaRP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1000" kern="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Arial" panose="020B0604020202020204" pitchFamily="34" charset="0"/>
                          <a:sym typeface="+mn-ea"/>
                        </a:rPr>
                        <a:t>5</a:t>
                      </a:r>
                      <a:r>
                        <a:rPr lang="zh-CN" altLang="en-US" sz="1000" kern="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Arial" panose="020B0604020202020204" pitchFamily="34" charset="0"/>
                          <a:sym typeface="+mn-ea"/>
                        </a:rPr>
                        <a:t>、主要客户：</a:t>
                      </a:r>
                      <a:r>
                        <a:rPr lang="en-US" altLang="zh-CN" sz="1000" kern="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Arial" panose="020B0604020202020204" pitchFamily="34" charset="0"/>
                          <a:sym typeface="+mn-ea"/>
                        </a:rPr>
                        <a:t>Tesla</a:t>
                      </a:r>
                      <a:r>
                        <a:rPr lang="zh-CN" altLang="en-US" sz="1000" kern="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Arial" panose="020B0604020202020204" pitchFamily="34" charset="0"/>
                          <a:sym typeface="+mn-ea"/>
                        </a:rPr>
                        <a:t>、</a:t>
                      </a:r>
                      <a:r>
                        <a:rPr lang="en-US" altLang="zh-CN" sz="1000" kern="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Arial" panose="020B0604020202020204" pitchFamily="34" charset="0"/>
                          <a:sym typeface="+mn-ea"/>
                        </a:rPr>
                        <a:t>BYD</a:t>
                      </a:r>
                      <a:r>
                        <a:rPr lang="zh-CN" altLang="en-US" sz="1000" kern="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Arial" panose="020B0604020202020204" pitchFamily="34" charset="0"/>
                          <a:sym typeface="+mn-ea"/>
                        </a:rPr>
                        <a:t>、蜂巢传动、零跑、理想、奇瑞、小鹏；</a:t>
                      </a:r>
                      <a:endParaRPr lang="en-US" altLang="zh-CN" sz="1000" kern="0" dirty="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Arial" panose="020B0604020202020204" pitchFamily="34" charset="0"/>
                        <a:sym typeface="+mn-ea"/>
                      </a:endParaRP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1000" kern="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Arial" panose="020B0604020202020204" pitchFamily="34" charset="0"/>
                        </a:rPr>
                        <a:t>6</a:t>
                      </a:r>
                      <a:r>
                        <a:rPr lang="zh-CN" altLang="en-US" sz="1000" kern="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Arial" panose="020B0604020202020204" pitchFamily="34" charset="0"/>
                        </a:rPr>
                        <a:t>、主要产品：直流输入滤波器、交流输出滤波器、共模电感、功率电感</a:t>
                      </a:r>
                      <a:endParaRPr lang="en-US" altLang="zh-CN" sz="1000" kern="0" dirty="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 hMerge="1">
                  <a:tcPr/>
                </a:tc>
                <a:tc hMerge="1">
                  <a:tcPr/>
                </a:tc>
                <a:tc rowSpan="6">
                  <a:txBody>
                    <a:bodyPr/>
                    <a:lstStyle/>
                    <a:p>
                      <a:pPr algn="ctr" fontAlgn="ctr"/>
                      <a:r>
                        <a:rPr lang="zh-CN" altLang="en-US" sz="1800" b="1" i="0" u="none" strike="noStrike" dirty="0"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数模图、爆炸图零件</a:t>
                      </a:r>
                      <a:endParaRPr lang="en-US" altLang="zh-CN" sz="1800" b="1" i="0" u="none" strike="noStrike" dirty="0">
                        <a:solidFill>
                          <a:schemeClr val="bg1">
                            <a:lumMod val="50000"/>
                          </a:schemeClr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  <a:p>
                      <a:pPr algn="ctr" fontAlgn="ctr"/>
                      <a:r>
                        <a:rPr lang="zh-CN" altLang="en-US" sz="1800" b="1" i="0" u="none" strike="noStrike" dirty="0"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结构说明</a:t>
                      </a:r>
                      <a:endParaRPr lang="en-US" sz="1800" b="1" i="0" u="none" strike="noStrike" dirty="0">
                        <a:solidFill>
                          <a:schemeClr val="bg1">
                            <a:lumMod val="50000"/>
                          </a:schemeClr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</a:tr>
              <a:tr h="443449"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200" b="1" i="0" u="none" strike="noStrike" dirty="0"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产品技术方案</a:t>
                      </a:r>
                      <a:endParaRPr lang="zh-CN" altLang="en-US" sz="1200" b="1" i="0" u="none" strike="noStrike" dirty="0"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3">
                  <a:txBody>
                    <a:bodyPr/>
                    <a:lstStyle/>
                    <a:p>
                      <a:pPr lvl="0">
                        <a:defRPr/>
                      </a:pPr>
                      <a:endParaRPr lang="en-US" altLang="zh-CN" sz="1000" kern="0" dirty="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 hMerge="1">
                  <a:tcPr/>
                </a:tc>
                <a:tc hMerge="1">
                  <a:tcPr/>
                </a:tc>
                <a:tc vMerge="1"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591266"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1200" b="1" u="none" strike="noStrike" kern="1200" dirty="0">
                          <a:solidFill>
                            <a:schemeClr val="dk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研发场地</a:t>
                      </a:r>
                      <a:endParaRPr lang="zh-CN" altLang="en-US" sz="1200" b="1" u="none" strike="noStrike" kern="1200" dirty="0">
                        <a:solidFill>
                          <a:schemeClr val="dk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07950" marR="0" lvl="0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1000" kern="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Arial" panose="020B0604020202020204" pitchFamily="34" charset="0"/>
                        </a:rPr>
                        <a:t>是否在制造基地：</a:t>
                      </a:r>
                      <a:r>
                        <a:rPr lang="zh-CN" altLang="en-US" sz="1000" kern="0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Arial" panose="020B0604020202020204" pitchFamily="34" charset="0"/>
                        </a:rPr>
                        <a:t>是</a:t>
                      </a:r>
                      <a:endParaRPr lang="en-US" altLang="zh-CN" sz="1000" kern="0" dirty="0">
                        <a:solidFill>
                          <a:schemeClr val="bg1">
                            <a:lumMod val="50000"/>
                          </a:schemeClr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Arial" panose="020B0604020202020204" pitchFamily="34" charset="0"/>
                      </a:endParaRPr>
                    </a:p>
                    <a:p>
                      <a:pPr marL="107950" marR="0" lvl="0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1000" kern="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Arial" panose="020B0604020202020204" pitchFamily="34" charset="0"/>
                        </a:rPr>
                        <a:t>是否在国内：</a:t>
                      </a:r>
                      <a:r>
                        <a:rPr lang="zh-CN" altLang="en-US" sz="1000" kern="0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Arial" panose="020B0604020202020204" pitchFamily="34" charset="0"/>
                        </a:rPr>
                        <a:t>是</a:t>
                      </a:r>
                      <a:endParaRPr lang="zh-CN" altLang="en-US" sz="1000" kern="0" dirty="0">
                        <a:solidFill>
                          <a:schemeClr val="bg1">
                            <a:lumMod val="50000"/>
                          </a:schemeClr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Arial" panose="020B0604020202020204" pitchFamily="34" charset="0"/>
                      </a:endParaRPr>
                    </a:p>
                    <a:p>
                      <a:pPr marL="107950" marR="0" lvl="0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1000" kern="0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Arial" panose="020B0604020202020204" pitchFamily="34" charset="0"/>
                        </a:rPr>
                        <a:t>软件开放程度高，可按</a:t>
                      </a:r>
                      <a:r>
                        <a:rPr lang="zh-CN" altLang="en-US" sz="1000" kern="0" dirty="0">
                          <a:solidFill>
                            <a:srgbClr val="FF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Arial" panose="020B0604020202020204" pitchFamily="34" charset="0"/>
                        </a:rPr>
                        <a:t>白盒子件</a:t>
                      </a:r>
                      <a:r>
                        <a:rPr lang="zh-CN" altLang="en-US" sz="1000" kern="0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Arial" panose="020B0604020202020204" pitchFamily="34" charset="0"/>
                        </a:rPr>
                        <a:t>开发，可快速联动</a:t>
                      </a:r>
                      <a:endParaRPr lang="en-US" altLang="zh-CN" sz="1000" kern="0" dirty="0">
                        <a:solidFill>
                          <a:schemeClr val="bg1">
                            <a:lumMod val="50000"/>
                          </a:schemeClr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1200" b="1" u="none" strike="noStrike" kern="1200" dirty="0">
                          <a:solidFill>
                            <a:schemeClr val="dk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人员能力</a:t>
                      </a:r>
                      <a:endParaRPr lang="zh-CN" altLang="en-US" sz="1200" b="1" u="none" strike="noStrike" kern="1200" dirty="0">
                        <a:solidFill>
                          <a:schemeClr val="dk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07950" marR="0" lvl="0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1000" kern="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Arial" panose="020B0604020202020204" pitchFamily="34" charset="0"/>
                        </a:rPr>
                        <a:t>研发团队</a:t>
                      </a:r>
                      <a:r>
                        <a:rPr lang="en-US" altLang="zh-CN" sz="1000" kern="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Arial" panose="020B0604020202020204" pitchFamily="34" charset="0"/>
                        </a:rPr>
                        <a:t>XX</a:t>
                      </a:r>
                      <a:r>
                        <a:rPr lang="zh-CN" altLang="en-US" sz="1000" kern="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Arial" panose="020B0604020202020204" pitchFamily="34" charset="0"/>
                        </a:rPr>
                        <a:t>人，占总员工数量的</a:t>
                      </a:r>
                      <a:r>
                        <a:rPr lang="en-US" altLang="zh-CN" sz="1000" kern="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Arial" panose="020B0604020202020204" pitchFamily="34" charset="0"/>
                        </a:rPr>
                        <a:t>XX%</a:t>
                      </a:r>
                      <a:r>
                        <a:rPr lang="zh-CN" altLang="en-US" sz="1000" kern="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Arial" panose="020B0604020202020204" pitchFamily="34" charset="0"/>
                        </a:rPr>
                        <a:t>；本硕以上人员占比</a:t>
                      </a:r>
                      <a:r>
                        <a:rPr lang="en-US" altLang="zh-CN" sz="1000" kern="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Arial" panose="020B0604020202020204" pitchFamily="34" charset="0"/>
                        </a:rPr>
                        <a:t>XX%</a:t>
                      </a:r>
                      <a:r>
                        <a:rPr lang="zh-CN" altLang="en-US" sz="1000" kern="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Arial" panose="020B0604020202020204" pitchFamily="34" charset="0"/>
                        </a:rPr>
                        <a:t>。</a:t>
                      </a:r>
                      <a:endParaRPr lang="en-US" altLang="zh-CN" sz="1000" kern="0" dirty="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Arial" panose="020B0604020202020204" pitchFamily="34" charset="0"/>
                      </a:endParaRPr>
                    </a:p>
                    <a:p>
                      <a:pPr marL="107950" marR="0" lvl="0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1000" kern="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Arial" panose="020B0604020202020204" pitchFamily="34" charset="0"/>
                        </a:rPr>
                        <a:t>核心高管团队在行业内均具有</a:t>
                      </a:r>
                      <a:r>
                        <a:rPr lang="en-US" altLang="zh-CN" sz="1000" kern="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Arial" panose="020B0604020202020204" pitchFamily="34" charset="0"/>
                        </a:rPr>
                        <a:t>20</a:t>
                      </a:r>
                      <a:r>
                        <a:rPr lang="zh-CN" altLang="en-US" sz="1000" kern="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Arial" panose="020B0604020202020204" pitchFamily="34" charset="0"/>
                        </a:rPr>
                        <a:t>年以上经验，在</a:t>
                      </a:r>
                      <a:r>
                        <a:rPr lang="en-US" altLang="zh-CN" sz="1000" kern="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Arial" panose="020B0604020202020204" pitchFamily="34" charset="0"/>
                        </a:rPr>
                        <a:t>XX</a:t>
                      </a:r>
                      <a:r>
                        <a:rPr lang="zh-CN" altLang="en-US" sz="1000" kern="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Arial" panose="020B0604020202020204" pitchFamily="34" charset="0"/>
                        </a:rPr>
                        <a:t>主机厂公司或零部件企业（</a:t>
                      </a:r>
                      <a:r>
                        <a:rPr lang="zh-CN" altLang="en-US" sz="1000" kern="0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Arial" panose="020B0604020202020204" pitchFamily="34" charset="0"/>
                        </a:rPr>
                        <a:t>德资、美资、日资知名零部件企业）</a:t>
                      </a:r>
                      <a:r>
                        <a:rPr lang="zh-CN" altLang="en-US" sz="1000" kern="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Arial" panose="020B0604020202020204" pitchFamily="34" charset="0"/>
                        </a:rPr>
                        <a:t>担任过重要职位。</a:t>
                      </a:r>
                      <a:endParaRPr lang="zh-CN" altLang="en-US" sz="1000" kern="0" dirty="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 vMerge="1">
                  <a:tcPr marL="0" marR="0" marT="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361315"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200" b="1" u="none" strike="noStrike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关键二级件及分供方</a:t>
                      </a:r>
                      <a:endParaRPr lang="zh-CN" altLang="en-US" sz="1200" b="1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3">
                  <a:txBody>
                    <a:bodyPr/>
                    <a:lstStyle/>
                    <a:p>
                      <a:pPr marL="107950" marR="0" lvl="0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1000" kern="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Arial" panose="020B0604020202020204" pitchFamily="34" charset="0"/>
                        </a:rPr>
                        <a:t>XX</a:t>
                      </a:r>
                      <a:r>
                        <a:rPr lang="zh-CN" altLang="en-US" sz="1000" kern="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Arial" panose="020B0604020202020204" pitchFamily="34" charset="0"/>
                        </a:rPr>
                        <a:t>零件：</a:t>
                      </a:r>
                      <a:r>
                        <a:rPr lang="en-US" altLang="zh-CN" sz="1000" kern="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Arial" panose="020B0604020202020204" pitchFamily="34" charset="0"/>
                        </a:rPr>
                        <a:t>XX</a:t>
                      </a:r>
                      <a:r>
                        <a:rPr lang="zh-CN" altLang="en-US" sz="1000" kern="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Arial" panose="020B0604020202020204" pitchFamily="34" charset="0"/>
                        </a:rPr>
                        <a:t>分供方</a:t>
                      </a:r>
                      <a:endParaRPr lang="zh-CN" altLang="en-US" sz="1000" kern="0" dirty="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 hMerge="1">
                  <a:tcPr/>
                </a:tc>
                <a:tc hMerge="1">
                  <a:tcPr/>
                </a:tc>
                <a:tc vMerge="1">
                  <a:tcPr marL="0" marR="0" marT="0" marB="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616249"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200" b="1" u="none" strike="noStrike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试验验证</a:t>
                      </a:r>
                      <a:endParaRPr lang="en-US" altLang="zh-CN" sz="1200" b="1" u="none" strike="noStrike" dirty="0"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  <a:p>
                      <a:pPr algn="ctr" fontAlgn="ctr"/>
                      <a:r>
                        <a:rPr lang="zh-CN" altLang="en-US" sz="1200" b="1" u="none" strike="noStrike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能力</a:t>
                      </a:r>
                      <a:endParaRPr lang="zh-CN" altLang="en-US" sz="1200" b="1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3">
                  <a:txBody>
                    <a:bodyPr/>
                    <a:lstStyle/>
                    <a:p>
                      <a:pPr marL="0" indent="0">
                        <a:lnSpc>
                          <a:spcPct val="120000"/>
                        </a:lnSpc>
                        <a:buFont typeface="Arial" panose="020B0604020202020204" pitchFamily="34" charset="0"/>
                        <a:buNone/>
                      </a:pPr>
                      <a:r>
                        <a:rPr lang="zh-CN" altLang="en-US" sz="1000" kern="1200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例如：</a:t>
                      </a:r>
                      <a:r>
                        <a:rPr lang="en-US" altLang="zh-CN" sz="1000" kern="1200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1</a:t>
                      </a:r>
                      <a:r>
                        <a:rPr lang="zh-CN" altLang="en-US" sz="1000" kern="0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Arial" panose="020B0604020202020204" pitchFamily="34" charset="0"/>
                        </a:rPr>
                        <a:t>、实验中心通过了</a:t>
                      </a:r>
                      <a:r>
                        <a:rPr lang="en-US" altLang="zh-CN" sz="1000" kern="0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Arial" panose="020B0604020202020204" pitchFamily="34" charset="0"/>
                        </a:rPr>
                        <a:t>CNAS</a:t>
                      </a:r>
                      <a:r>
                        <a:rPr lang="zh-CN" altLang="en-US" sz="1000" kern="0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Arial" panose="020B0604020202020204" pitchFamily="34" charset="0"/>
                        </a:rPr>
                        <a:t>认证，认可范围包括汽车电子和环境可靠性试验两个大类、</a:t>
                      </a:r>
                      <a:r>
                        <a:rPr lang="en-US" altLang="zh-CN" sz="1000" kern="0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Arial" panose="020B0604020202020204" pitchFamily="34" charset="0"/>
                        </a:rPr>
                        <a:t>12</a:t>
                      </a:r>
                      <a:r>
                        <a:rPr lang="zh-CN" altLang="en-US" sz="1000" kern="0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Arial" panose="020B0604020202020204" pitchFamily="34" charset="0"/>
                        </a:rPr>
                        <a:t>个标准、共计</a:t>
                      </a:r>
                      <a:r>
                        <a:rPr lang="en-US" altLang="zh-CN" sz="1000" kern="0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Arial" panose="020B0604020202020204" pitchFamily="34" charset="0"/>
                        </a:rPr>
                        <a:t>26</a:t>
                      </a:r>
                      <a:r>
                        <a:rPr lang="zh-CN" altLang="en-US" sz="1000" kern="0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Arial" panose="020B0604020202020204" pitchFamily="34" charset="0"/>
                        </a:rPr>
                        <a:t>项试验项目；</a:t>
                      </a:r>
                      <a:r>
                        <a:rPr lang="en-US" altLang="zh-CN" sz="1000" kern="0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Arial" panose="020B0604020202020204" pitchFamily="34" charset="0"/>
                        </a:rPr>
                        <a:t>EMC</a:t>
                      </a:r>
                      <a:r>
                        <a:rPr lang="zh-CN" altLang="en-US" sz="1000" kern="0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Arial" panose="020B0604020202020204" pitchFamily="34" charset="0"/>
                        </a:rPr>
                        <a:t>、禁限用物质需委外。</a:t>
                      </a:r>
                      <a:endParaRPr lang="zh-CN" altLang="en-US" sz="1000" kern="0" dirty="0">
                        <a:solidFill>
                          <a:schemeClr val="bg1">
                            <a:lumMod val="50000"/>
                          </a:schemeClr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Arial" panose="020B0604020202020204" pitchFamily="34" charset="0"/>
                      </a:endParaRPr>
                    </a:p>
                    <a:p>
                      <a:pPr marL="0" indent="0">
                        <a:lnSpc>
                          <a:spcPct val="120000"/>
                        </a:lnSpc>
                        <a:buFont typeface="Arial" panose="020B0604020202020204" pitchFamily="34" charset="0"/>
                        <a:buNone/>
                      </a:pPr>
                      <a:r>
                        <a:rPr lang="en-US" altLang="zh-CN" sz="1000" kern="0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Arial" panose="020B0604020202020204" pitchFamily="34" charset="0"/>
                        </a:rPr>
                        <a:t>2</a:t>
                      </a:r>
                      <a:r>
                        <a:rPr lang="zh-CN" altLang="en-US" sz="1000" kern="0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Arial" panose="020B0604020202020204" pitchFamily="34" charset="0"/>
                        </a:rPr>
                        <a:t>、通过了上汽大众实验室认可；通过了蔚来实验室认可。</a:t>
                      </a:r>
                      <a:endParaRPr lang="en-US" altLang="zh-CN" sz="1000" kern="0" dirty="0">
                        <a:solidFill>
                          <a:schemeClr val="bg1">
                            <a:lumMod val="50000"/>
                          </a:schemeClr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 hMerge="1">
                  <a:tcPr/>
                </a:tc>
                <a:tc hMerge="1">
                  <a:tcPr/>
                </a:tc>
                <a:tc vMerge="1">
                  <a:tcPr marL="0" marR="0" marT="0" marB="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549275"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软件和标定能力</a:t>
                      </a:r>
                      <a:endParaRPr lang="zh-CN" altLang="en-US" sz="1200" b="1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3"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  <a:buClrTx/>
                        <a:buSzTx/>
                        <a:buFont typeface="Arial" panose="020B0604020202020204" pitchFamily="34" charset="0"/>
                        <a:buNone/>
                      </a:pPr>
                      <a:r>
                        <a:rPr lang="en-US" altLang="zh-CN" sz="1000" kern="0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Arial" panose="020B0604020202020204" pitchFamily="34" charset="0"/>
                          <a:sym typeface="+mn-ea"/>
                        </a:rPr>
                        <a:t>1.</a:t>
                      </a:r>
                      <a:r>
                        <a:rPr lang="zh-CN" altLang="en-US" sz="1000" kern="0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Arial" panose="020B0604020202020204" pitchFamily="34" charset="0"/>
                          <a:sym typeface="+mn-ea"/>
                        </a:rPr>
                        <a:t>软件开发流程及规范：采用</a:t>
                      </a:r>
                      <a:r>
                        <a:rPr lang="en-US" altLang="zh-CN" sz="1000" kern="0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Arial" panose="020B0604020202020204" pitchFamily="34" charset="0"/>
                          <a:sym typeface="+mn-ea"/>
                        </a:rPr>
                        <a:t>ASPICE CL2</a:t>
                      </a:r>
                      <a:r>
                        <a:rPr lang="zh-CN" altLang="en-US" sz="1000" kern="0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Arial" panose="020B0604020202020204" pitchFamily="34" charset="0"/>
                          <a:sym typeface="+mn-ea"/>
                        </a:rPr>
                        <a:t>流程，符合</a:t>
                      </a:r>
                      <a:r>
                        <a:rPr lang="en-US" altLang="zh-CN" sz="1000" kern="0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Arial" panose="020B0604020202020204" pitchFamily="34" charset="0"/>
                          <a:sym typeface="+mn-ea"/>
                        </a:rPr>
                        <a:t>IS026262,</a:t>
                      </a:r>
                      <a:r>
                        <a:rPr lang="zh-CN" altLang="en-US" sz="1000" kern="0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Arial" panose="020B0604020202020204" pitchFamily="34" charset="0"/>
                          <a:sym typeface="+mn-ea"/>
                        </a:rPr>
                        <a:t>支持</a:t>
                      </a:r>
                      <a:r>
                        <a:rPr lang="en-US" altLang="zh-CN" sz="1000" kern="0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Arial" panose="020B0604020202020204" pitchFamily="34" charset="0"/>
                          <a:sym typeface="+mn-ea"/>
                        </a:rPr>
                        <a:t>V</a:t>
                      </a:r>
                      <a:r>
                        <a:rPr lang="zh-CN" altLang="en-US" sz="1000" kern="0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Arial" panose="020B0604020202020204" pitchFamily="34" charset="0"/>
                          <a:sym typeface="+mn-ea"/>
                        </a:rPr>
                        <a:t>模型开发及瀑布模型，使用</a:t>
                      </a:r>
                      <a:r>
                        <a:rPr lang="en-US" altLang="zh-CN" sz="1000" kern="0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Arial" panose="020B0604020202020204" pitchFamily="34" charset="0"/>
                          <a:sym typeface="+mn-ea"/>
                        </a:rPr>
                        <a:t>gitlab</a:t>
                      </a:r>
                      <a:r>
                        <a:rPr lang="zh-CN" altLang="en-US" sz="1000" kern="0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Arial" panose="020B0604020202020204" pitchFamily="34" charset="0"/>
                          <a:sym typeface="+mn-ea"/>
                        </a:rPr>
                        <a:t>、</a:t>
                      </a:r>
                      <a:r>
                        <a:rPr lang="en-US" altLang="zh-CN" sz="1000" kern="0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Arial" panose="020B0604020202020204" pitchFamily="34" charset="0"/>
                          <a:sym typeface="+mn-ea"/>
                        </a:rPr>
                        <a:t>svn</a:t>
                      </a:r>
                      <a:r>
                        <a:rPr lang="zh-CN" altLang="en-US" sz="1000" kern="0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Arial" panose="020B0604020202020204" pitchFamily="34" charset="0"/>
                          <a:sym typeface="+mn-ea"/>
                        </a:rPr>
                        <a:t>，</a:t>
                      </a:r>
                      <a:r>
                        <a:rPr lang="en-US" altLang="zh-CN" sz="1000" kern="0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Arial" panose="020B0604020202020204" pitchFamily="34" charset="0"/>
                          <a:sym typeface="+mn-ea"/>
                        </a:rPr>
                        <a:t>ones</a:t>
                      </a:r>
                      <a:r>
                        <a:rPr lang="zh-CN" altLang="en-US" sz="1000" kern="0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Arial" panose="020B0604020202020204" pitchFamily="34" charset="0"/>
                          <a:sym typeface="+mn-ea"/>
                        </a:rPr>
                        <a:t>等工具保证全流程可追溯性，已通过</a:t>
                      </a:r>
                      <a:r>
                        <a:rPr lang="en-US" altLang="zh-CN" sz="1000" kern="0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Arial" panose="020B0604020202020204" pitchFamily="34" charset="0"/>
                          <a:sym typeface="+mn-ea"/>
                        </a:rPr>
                        <a:t> ASPICE CL3 </a:t>
                      </a:r>
                      <a:r>
                        <a:rPr lang="zh-CN" altLang="en-US" sz="1000" kern="0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Arial" panose="020B0604020202020204" pitchFamily="34" charset="0"/>
                          <a:sym typeface="+mn-ea"/>
                        </a:rPr>
                        <a:t>认证</a:t>
                      </a:r>
                      <a:r>
                        <a:rPr lang="en-US" altLang="zh-CN" sz="1000" kern="0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Arial" panose="020B0604020202020204" pitchFamily="34" charset="0"/>
                          <a:sym typeface="+mn-ea"/>
                        </a:rPr>
                        <a:t> / ISO 9001 </a:t>
                      </a:r>
                      <a:r>
                        <a:rPr lang="zh-CN" altLang="en-US" sz="1000" kern="0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Arial" panose="020B0604020202020204" pitchFamily="34" charset="0"/>
                          <a:sym typeface="+mn-ea"/>
                        </a:rPr>
                        <a:t>质量体系</a:t>
                      </a:r>
                      <a:endParaRPr lang="zh-CN" altLang="en-US" sz="1000" kern="0" dirty="0">
                        <a:solidFill>
                          <a:schemeClr val="bg1">
                            <a:lumMod val="50000"/>
                          </a:schemeClr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Arial" panose="020B0604020202020204" pitchFamily="34" charset="0"/>
                        <a:sym typeface="+mn-ea"/>
                      </a:endParaRPr>
                    </a:p>
                    <a:p>
                      <a:pPr algn="l">
                        <a:lnSpc>
                          <a:spcPct val="120000"/>
                        </a:lnSpc>
                        <a:buClrTx/>
                        <a:buSzTx/>
                        <a:buFont typeface="Arial" panose="020B0604020202020204" pitchFamily="34" charset="0"/>
                        <a:buNone/>
                      </a:pPr>
                      <a:r>
                        <a:rPr lang="en-US" altLang="zh-CN" sz="1000" kern="0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Arial" panose="020B0604020202020204" pitchFamily="34" charset="0"/>
                          <a:sym typeface="+mn-ea"/>
                        </a:rPr>
                        <a:t>2.</a:t>
                      </a:r>
                      <a:r>
                        <a:rPr lang="zh-CN" altLang="en-US" sz="1000" kern="0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Arial" panose="020B0604020202020204" pitchFamily="34" charset="0"/>
                          <a:sym typeface="+mn-ea"/>
                        </a:rPr>
                        <a:t>嵌入式式软件开发：支持</a:t>
                      </a:r>
                      <a:r>
                        <a:rPr lang="en-US" altLang="zh-CN" sz="1000" kern="0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Arial" panose="020B0604020202020204" pitchFamily="34" charset="0"/>
                          <a:sym typeface="+mn-ea"/>
                        </a:rPr>
                        <a:t> AUTOSAR Classic</a:t>
                      </a:r>
                      <a:r>
                        <a:rPr lang="zh-CN" altLang="en-US" sz="1000" kern="0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Arial" panose="020B0604020202020204" pitchFamily="34" charset="0"/>
                          <a:sym typeface="+mn-ea"/>
                        </a:rPr>
                        <a:t>，</a:t>
                      </a:r>
                      <a:r>
                        <a:rPr lang="en-US" altLang="zh-CN" sz="1000" kern="0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Arial" panose="020B0604020202020204" pitchFamily="34" charset="0"/>
                          <a:sym typeface="+mn-ea"/>
                        </a:rPr>
                        <a:t>C/C++/Model-Based Design</a:t>
                      </a:r>
                      <a:r>
                        <a:rPr lang="zh-CN" altLang="en-US" sz="1000" kern="0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Arial" panose="020B0604020202020204" pitchFamily="34" charset="0"/>
                          <a:sym typeface="+mn-ea"/>
                        </a:rPr>
                        <a:t>开发模式</a:t>
                      </a:r>
                      <a:endParaRPr lang="zh-CN" altLang="en-US" sz="1000" kern="0" dirty="0">
                        <a:solidFill>
                          <a:schemeClr val="bg1">
                            <a:lumMod val="50000"/>
                          </a:schemeClr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Arial" panose="020B0604020202020204" pitchFamily="34" charset="0"/>
                        <a:sym typeface="+mn-ea"/>
                      </a:endParaRPr>
                    </a:p>
                    <a:p>
                      <a:pPr algn="l">
                        <a:lnSpc>
                          <a:spcPct val="120000"/>
                        </a:lnSpc>
                        <a:buClrTx/>
                        <a:buSzTx/>
                        <a:buFont typeface="Arial" panose="020B0604020202020204" pitchFamily="34" charset="0"/>
                        <a:buNone/>
                      </a:pPr>
                      <a:r>
                        <a:rPr lang="en-US" altLang="zh-CN" sz="1000" kern="0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Arial" panose="020B0604020202020204" pitchFamily="34" charset="0"/>
                          <a:sym typeface="+mn-ea"/>
                        </a:rPr>
                        <a:t>3.</a:t>
                      </a:r>
                      <a:r>
                        <a:rPr lang="zh-CN" altLang="en-US" sz="1000" kern="0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Arial" panose="020B0604020202020204" pitchFamily="34" charset="0"/>
                          <a:sym typeface="+mn-ea"/>
                        </a:rPr>
                        <a:t>算法开发：电驱控制、热管理、车窗防夹、能量管理等领域</a:t>
                      </a:r>
                      <a:r>
                        <a:rPr lang="en-US" altLang="zh-CN" sz="1000" kern="0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Arial" panose="020B0604020202020204" pitchFamily="34" charset="0"/>
                          <a:sym typeface="+mn-ea"/>
                        </a:rPr>
                        <a:t>                                                                                                            </a:t>
                      </a:r>
                      <a:endParaRPr lang="zh-CN" altLang="en-US" sz="1000" kern="0" dirty="0">
                        <a:solidFill>
                          <a:schemeClr val="bg1">
                            <a:lumMod val="50000"/>
                          </a:schemeClr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Arial" panose="020B0604020202020204" pitchFamily="34" charset="0"/>
                        <a:sym typeface="+mn-ea"/>
                      </a:endParaRPr>
                    </a:p>
                    <a:p>
                      <a:pPr algn="l">
                        <a:lnSpc>
                          <a:spcPct val="120000"/>
                        </a:lnSpc>
                        <a:buClrTx/>
                        <a:buSzTx/>
                        <a:buFont typeface="Arial" panose="020B0604020202020204" pitchFamily="34" charset="0"/>
                        <a:buNone/>
                      </a:pPr>
                      <a:r>
                        <a:rPr lang="en-US" altLang="zh-CN" sz="1000" kern="0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Arial" panose="020B0604020202020204" pitchFamily="34" charset="0"/>
                          <a:sym typeface="+mn-ea"/>
                        </a:rPr>
                        <a:t>4.</a:t>
                      </a:r>
                      <a:r>
                        <a:rPr lang="zh-CN" altLang="en-US" sz="1000" kern="0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Arial" panose="020B0604020202020204" pitchFamily="34" charset="0"/>
                          <a:sym typeface="+mn-ea"/>
                        </a:rPr>
                        <a:t>标定：基于</a:t>
                      </a:r>
                      <a:r>
                        <a:rPr lang="en-US" altLang="zh-CN" sz="1000" kern="0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Arial" panose="020B0604020202020204" pitchFamily="34" charset="0"/>
                          <a:sym typeface="+mn-ea"/>
                        </a:rPr>
                        <a:t> Simulink/MATLAB </a:t>
                      </a:r>
                      <a:r>
                        <a:rPr lang="zh-CN" altLang="en-US" sz="1000" kern="0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Arial" panose="020B0604020202020204" pitchFamily="34" charset="0"/>
                          <a:sym typeface="+mn-ea"/>
                        </a:rPr>
                        <a:t>建模与虚拟标定（</a:t>
                      </a:r>
                      <a:r>
                        <a:rPr lang="en-US" altLang="zh-CN" sz="1000" kern="0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Arial" panose="020B0604020202020204" pitchFamily="34" charset="0"/>
                          <a:sym typeface="+mn-ea"/>
                        </a:rPr>
                        <a:t>Virtual Calibration</a:t>
                      </a:r>
                      <a:r>
                        <a:rPr lang="zh-CN" altLang="en-US" sz="1000" kern="0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Arial" panose="020B0604020202020204" pitchFamily="34" charset="0"/>
                          <a:sym typeface="+mn-ea"/>
                        </a:rPr>
                        <a:t>）以及输出相关报告满足主机厂审核，有执行过</a:t>
                      </a:r>
                      <a:r>
                        <a:rPr lang="en-US" altLang="zh-CN" sz="1000" kern="0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Arial" panose="020B0604020202020204" pitchFamily="34" charset="0"/>
                          <a:sym typeface="+mn-ea"/>
                        </a:rPr>
                        <a:t>DCU&amp;</a:t>
                      </a:r>
                      <a:r>
                        <a:rPr lang="zh-CN" altLang="en-US" sz="1000" kern="0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Arial" panose="020B0604020202020204" pitchFamily="34" charset="0"/>
                          <a:sym typeface="+mn-ea"/>
                        </a:rPr>
                        <a:t>座椅的电机的量产标定</a:t>
                      </a:r>
                      <a:endParaRPr lang="zh-CN" altLang="en-US" sz="1000" kern="0" dirty="0">
                        <a:solidFill>
                          <a:schemeClr val="bg1">
                            <a:lumMod val="50000"/>
                          </a:schemeClr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Arial" panose="020B0604020202020204" pitchFamily="34" charset="0"/>
                        <a:sym typeface="+mn-ea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 hMerge="1">
                  <a:tcPr marL="0" marR="0" marT="0" marB="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cPr/>
                </a:tc>
                <a:tc vMerge="1"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4" name="标题 1"/>
          <p:cNvSpPr/>
          <p:nvPr/>
        </p:nvSpPr>
        <p:spPr>
          <a:xfrm>
            <a:off x="7029043" y="143743"/>
            <a:ext cx="2828623" cy="40011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 rtlCol="0" anchor="ctr">
            <a:spAutoFit/>
          </a:bodyPr>
          <a:lstStyle/>
          <a:p>
            <a:pPr algn="r" fontAlgn="ctr"/>
            <a:r>
              <a:rPr lang="zh-CN" altLang="en-US" sz="2000" b="1" noProof="1">
                <a:latin typeface="微软雅黑" panose="020B0503020204020204" pitchFamily="34" charset="-122"/>
                <a:ea typeface="微软雅黑" panose="020B0503020204020204" pitchFamily="34" charset="-122"/>
                <a:cs typeface="Adobe 楷体 Std R"/>
                <a:sym typeface="宋体" panose="02010600030101010101" pitchFamily="2" charset="-122"/>
              </a:rPr>
              <a:t>二、产品基本信息速览</a:t>
            </a:r>
            <a:endParaRPr lang="zh-CN" altLang="en-US" sz="2000" b="1" noProof="1">
              <a:latin typeface="微软雅黑" panose="020B0503020204020204" pitchFamily="34" charset="-122"/>
              <a:ea typeface="微软雅黑" panose="020B0503020204020204" pitchFamily="34" charset="-122"/>
              <a:cs typeface="Adobe 楷体 Std R"/>
              <a:sym typeface="宋体" panose="02010600030101010101" pitchFamily="2" charset="-122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1943967" y="175681"/>
            <a:ext cx="5085075" cy="400110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zh-CN" altLang="en-US" sz="20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dobe 楷体 Std R"/>
              </a:rPr>
              <a:t>审核产品：</a:t>
            </a:r>
            <a:r>
              <a:rPr lang="en-US" altLang="zh-CN" sz="20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dobe 楷体 Std R"/>
              </a:rPr>
              <a:t>XXXX</a:t>
            </a:r>
            <a:endParaRPr lang="zh-CN" altLang="en-US" sz="2000" b="1" dirty="0">
              <a:solidFill>
                <a:srgbClr val="C000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Adobe 楷体 Std R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245745" y="5740163"/>
            <a:ext cx="9647367" cy="492443"/>
          </a:xfrm>
          <a:prstGeom prst="rect">
            <a:avLst/>
          </a:prstGeom>
          <a:solidFill>
            <a:srgbClr val="FFFF00"/>
          </a:solidFill>
          <a:ln w="28575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zh-CN" altLang="en-US" sz="1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产品方案及关键供方分析结论：</a:t>
            </a:r>
            <a:r>
              <a:rPr lang="en-US" altLang="zh-CN" sz="12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XX</a:t>
            </a:r>
            <a:r>
              <a:rPr lang="zh-CN" altLang="en-US" sz="12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类产品已在</a:t>
            </a:r>
            <a:r>
              <a:rPr lang="zh-CN" altLang="en-US" sz="1200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极氪</a:t>
            </a:r>
            <a:r>
              <a:rPr lang="en-US" altLang="zh-CN" sz="1200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DC1E</a:t>
            </a:r>
            <a:r>
              <a:rPr lang="zh-CN" altLang="en-US" sz="1200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、</a:t>
            </a:r>
            <a:r>
              <a:rPr lang="en-US" altLang="zh-CN" sz="1200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DC1EA2</a:t>
            </a:r>
            <a:r>
              <a:rPr lang="zh-CN" altLang="en-US" sz="1200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、</a:t>
            </a:r>
            <a:r>
              <a:rPr lang="en-US" altLang="zh-CN" sz="1200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DC1EM</a:t>
            </a:r>
            <a:r>
              <a:rPr lang="zh-CN" altLang="en-US" sz="1200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、</a:t>
            </a:r>
            <a:r>
              <a:rPr lang="en-US" altLang="zh-CN" sz="1200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CC1E</a:t>
            </a:r>
            <a:r>
              <a:rPr lang="zh-CN" altLang="en-US" sz="1200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、</a:t>
            </a:r>
            <a:r>
              <a:rPr lang="en-US" altLang="zh-CN" sz="1200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CX1E</a:t>
            </a:r>
            <a:r>
              <a:rPr lang="zh-CN" altLang="en-US" sz="1200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等车型上</a:t>
            </a:r>
            <a:r>
              <a:rPr lang="zh-CN" altLang="en-US" sz="12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应用；关键元器件供应商</a:t>
            </a:r>
            <a:r>
              <a:rPr lang="en-US" altLang="zh-CN" sz="12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XXX\XXX</a:t>
            </a:r>
            <a:r>
              <a:rPr lang="zh-CN" altLang="en-US" sz="12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等，能力满足要求；总体看，供应商可以满足吉利</a:t>
            </a:r>
            <a:r>
              <a:rPr lang="en-US" altLang="zh-CN" sz="12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XXX</a:t>
            </a:r>
            <a:r>
              <a:rPr lang="zh-CN" altLang="en-US" sz="12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零件的要求。</a:t>
            </a:r>
            <a:endParaRPr lang="zh-CN" altLang="en-US" sz="1400" b="1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" name="矩形 1"/>
          <p:cNvSpPr/>
          <p:nvPr/>
        </p:nvSpPr>
        <p:spPr bwMode="auto">
          <a:xfrm>
            <a:off x="7920632" y="3600127"/>
            <a:ext cx="1224136" cy="307777"/>
          </a:xfrm>
          <a:prstGeom prst="rect">
            <a:avLst/>
          </a:prstGeom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wrap="square" rtlCol="0" anchor="ctr">
            <a:spAutoFit/>
          </a:bodyPr>
          <a:lstStyle/>
          <a:p>
            <a:pPr algn="ctr" fontAlgn="ctr"/>
            <a:r>
              <a:rPr kumimoji="1" lang="en-US" altLang="zh-CN" sz="1400" b="1" dirty="0">
                <a:latin typeface="微软雅黑" panose="020B0503020204020204" pitchFamily="34" charset="-122"/>
                <a:ea typeface="微软雅黑" panose="020B0503020204020204" pitchFamily="34" charset="-122"/>
                <a:cs typeface="Adobe 楷体 Std R"/>
              </a:rPr>
              <a:t>PD</a:t>
            </a:r>
            <a:endParaRPr kumimoji="1" lang="zh-CN" altLang="en-US" sz="1400" b="1" dirty="0">
              <a:latin typeface="微软雅黑" panose="020B0503020204020204" pitchFamily="34" charset="-122"/>
              <a:ea typeface="微软雅黑" panose="020B0503020204020204" pitchFamily="34" charset="-122"/>
              <a:cs typeface="Adobe 楷体 Std R"/>
            </a:endParaRPr>
          </a:p>
        </p:txBody>
      </p:sp>
      <p:sp>
        <p:nvSpPr>
          <p:cNvPr id="7" name="矩形 6"/>
          <p:cNvSpPr/>
          <p:nvPr/>
        </p:nvSpPr>
        <p:spPr bwMode="auto">
          <a:xfrm>
            <a:off x="2592040" y="3907904"/>
            <a:ext cx="1224136" cy="307777"/>
          </a:xfrm>
          <a:prstGeom prst="rect">
            <a:avLst/>
          </a:prstGeom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wrap="square" rtlCol="0" anchor="ctr">
            <a:spAutoFit/>
          </a:bodyPr>
          <a:lstStyle/>
          <a:p>
            <a:pPr algn="ctr" fontAlgn="ctr"/>
            <a:r>
              <a:rPr kumimoji="1" lang="zh-CN" altLang="en-US" sz="1400" b="1" dirty="0">
                <a:latin typeface="微软雅黑" panose="020B0503020204020204" pitchFamily="34" charset="-122"/>
                <a:ea typeface="微软雅黑" panose="020B0503020204020204" pitchFamily="34" charset="-122"/>
                <a:cs typeface="Adobe 楷体 Std R"/>
              </a:rPr>
              <a:t>采购</a:t>
            </a:r>
            <a:endParaRPr kumimoji="1" lang="zh-CN" altLang="en-US" sz="1400" b="1" dirty="0">
              <a:latin typeface="微软雅黑" panose="020B0503020204020204" pitchFamily="34" charset="-122"/>
              <a:ea typeface="微软雅黑" panose="020B0503020204020204" pitchFamily="34" charset="-122"/>
              <a:cs typeface="Adobe 楷体 Std R"/>
            </a:endParaRPr>
          </a:p>
        </p:txBody>
      </p:sp>
      <p:sp>
        <p:nvSpPr>
          <p:cNvPr id="8" name="矩形 7"/>
          <p:cNvSpPr/>
          <p:nvPr/>
        </p:nvSpPr>
        <p:spPr bwMode="auto">
          <a:xfrm>
            <a:off x="5111437" y="4000162"/>
            <a:ext cx="1224136" cy="307777"/>
          </a:xfrm>
          <a:prstGeom prst="rect">
            <a:avLst/>
          </a:prstGeom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wrap="square" rtlCol="0" anchor="ctr">
            <a:spAutoFit/>
          </a:bodyPr>
          <a:lstStyle/>
          <a:p>
            <a:pPr algn="ctr" fontAlgn="ctr"/>
            <a:r>
              <a:rPr kumimoji="1" lang="en-US" altLang="zh-CN" sz="1400" b="1" dirty="0">
                <a:latin typeface="微软雅黑" panose="020B0503020204020204" pitchFamily="34" charset="-122"/>
                <a:ea typeface="微软雅黑" panose="020B0503020204020204" pitchFamily="34" charset="-122"/>
                <a:cs typeface="Adobe 楷体 Std R"/>
              </a:rPr>
              <a:t>REL</a:t>
            </a:r>
            <a:endParaRPr kumimoji="1" lang="zh-CN" altLang="en-US" sz="1400" b="1" dirty="0">
              <a:latin typeface="微软雅黑" panose="020B0503020204020204" pitchFamily="34" charset="-122"/>
              <a:ea typeface="微软雅黑" panose="020B0503020204020204" pitchFamily="34" charset="-122"/>
              <a:cs typeface="Adobe 楷体 Std R"/>
            </a:endParaRPr>
          </a:p>
        </p:txBody>
      </p:sp>
      <p:sp>
        <p:nvSpPr>
          <p:cNvPr id="9" name="矩形 8"/>
          <p:cNvSpPr/>
          <p:nvPr/>
        </p:nvSpPr>
        <p:spPr bwMode="auto">
          <a:xfrm>
            <a:off x="6264329" y="4967954"/>
            <a:ext cx="1224136" cy="307777"/>
          </a:xfrm>
          <a:prstGeom prst="rect">
            <a:avLst/>
          </a:prstGeom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wrap="square" rtlCol="0" anchor="ctr">
            <a:spAutoFit/>
          </a:bodyPr>
          <a:lstStyle/>
          <a:p>
            <a:pPr algn="ctr" fontAlgn="ctr"/>
            <a:r>
              <a:rPr kumimoji="1" lang="en-US" altLang="zh-CN" sz="1400" b="1" dirty="0">
                <a:latin typeface="微软雅黑" panose="020B0503020204020204" pitchFamily="34" charset="-122"/>
                <a:ea typeface="微软雅黑" panose="020B0503020204020204" pitchFamily="34" charset="-122"/>
                <a:cs typeface="Adobe 楷体 Std R"/>
              </a:rPr>
              <a:t>EE</a:t>
            </a:r>
            <a:endParaRPr kumimoji="1" lang="zh-CN" altLang="en-US" sz="1400" b="1" dirty="0">
              <a:latin typeface="微软雅黑" panose="020B0503020204020204" pitchFamily="34" charset="-122"/>
              <a:ea typeface="微软雅黑" panose="020B0503020204020204" pitchFamily="34" charset="-122"/>
              <a:cs typeface="Adobe 楷体 Std R"/>
            </a:endParaRPr>
          </a:p>
        </p:txBody>
      </p:sp>
    </p:spTree>
  </p:cSld>
  <p:clrMapOvr>
    <a:masterClrMapping/>
  </p:clrMapOvr>
  <p:transition spd="med"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1"/>
          <p:cNvSpPr/>
          <p:nvPr/>
        </p:nvSpPr>
        <p:spPr>
          <a:xfrm>
            <a:off x="5561070" y="136738"/>
            <a:ext cx="4176654" cy="40011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 rtlCol="0" anchor="ctr">
            <a:spAutoFit/>
          </a:bodyPr>
          <a:lstStyle/>
          <a:p>
            <a:pPr algn="r" fontAlgn="ctr"/>
            <a:r>
              <a:rPr lang="zh-CN" altLang="en-US" sz="2000" b="1" noProof="1">
                <a:latin typeface="微软雅黑" panose="020B0503020204020204" pitchFamily="34" charset="-122"/>
                <a:ea typeface="微软雅黑" panose="020B0503020204020204" pitchFamily="34" charset="-122"/>
                <a:cs typeface="Adobe 楷体 Std R"/>
                <a:sym typeface="宋体" panose="02010600030101010101" pitchFamily="2" charset="-122"/>
              </a:rPr>
              <a:t>三、工艺过程及关键控制点</a:t>
            </a:r>
            <a:endParaRPr lang="zh-CN" altLang="en-US" sz="2000" b="1" noProof="1">
              <a:latin typeface="微软雅黑" panose="020B0503020204020204" pitchFamily="34" charset="-122"/>
              <a:ea typeface="微软雅黑" panose="020B0503020204020204" pitchFamily="34" charset="-122"/>
              <a:cs typeface="Adobe 楷体 Std R"/>
              <a:sym typeface="宋体" panose="02010600030101010101" pitchFamily="2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481607" y="871542"/>
            <a:ext cx="9481127" cy="280313"/>
          </a:xfrm>
          <a:prstGeom prst="rect">
            <a:avLst/>
          </a:prstGeom>
          <a:solidFill>
            <a:srgbClr val="FFFF00"/>
          </a:solidFill>
          <a:ln w="28575">
            <a:solidFill>
              <a:schemeClr val="tx2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zh-CN" altLang="en-US" sz="12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工艺流程图：控制模块的主要制造工艺是</a:t>
            </a:r>
            <a:r>
              <a:rPr lang="en-US" altLang="zh-CN" sz="12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XXX\XXX</a:t>
            </a:r>
            <a:r>
              <a:rPr lang="zh-CN" altLang="en-US" sz="12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，流程图如下：</a:t>
            </a:r>
            <a:endParaRPr lang="en-US" altLang="zh-CN" sz="1200" b="1" dirty="0">
              <a:solidFill>
                <a:srgbClr val="FF66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481607" y="6092279"/>
            <a:ext cx="9481127" cy="280313"/>
          </a:xfrm>
          <a:prstGeom prst="rect">
            <a:avLst/>
          </a:prstGeom>
          <a:ln w="28575">
            <a:solidFill>
              <a:schemeClr val="tx2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zh-CN" altLang="en-US" sz="12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关键设备的能力情况和过程控制要点见下页。</a:t>
            </a:r>
            <a:endParaRPr lang="en-US" altLang="zh-CN" sz="1200" b="1" dirty="0">
              <a:solidFill>
                <a:srgbClr val="FF66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420894" y="1486549"/>
            <a:ext cx="511256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>
                <a:solidFill>
                  <a:schemeClr val="bg1">
                    <a:lumMod val="50000"/>
                  </a:schemeClr>
                </a:solidFill>
              </a:rPr>
              <a:t>补充流程图说明及关键工序及控制点标识</a:t>
            </a:r>
            <a:endParaRPr lang="zh-CN" altLang="en-US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6" name="矩形 5"/>
          <p:cNvSpPr/>
          <p:nvPr/>
        </p:nvSpPr>
        <p:spPr bwMode="auto">
          <a:xfrm>
            <a:off x="481607" y="1855881"/>
            <a:ext cx="9383241" cy="3832478"/>
          </a:xfrm>
          <a:prstGeom prst="rect">
            <a:avLst/>
          </a:prstGeom>
          <a:solidFill>
            <a:srgbClr val="FFFF00"/>
          </a:solidFill>
          <a:ln w="9525">
            <a:noFill/>
            <a:miter lim="800000"/>
          </a:ln>
        </p:spPr>
        <p:txBody>
          <a:bodyPr wrap="square" rtlCol="0" anchor="ctr">
            <a:spAutoFit/>
          </a:bodyPr>
          <a:lstStyle/>
          <a:p>
            <a:pPr algn="ctr" fontAlgn="ctr"/>
            <a:endParaRPr lang="zh-CN" altLang="en-US" sz="1400" b="1" dirty="0">
              <a:latin typeface="微软雅黑" panose="020B0503020204020204" pitchFamily="34" charset="-122"/>
              <a:ea typeface="微软雅黑" panose="020B0503020204020204" pitchFamily="34" charset="-122"/>
              <a:cs typeface="Adobe 楷体 Std R"/>
            </a:endParaRPr>
          </a:p>
        </p:txBody>
      </p:sp>
      <p:sp>
        <p:nvSpPr>
          <p:cNvPr id="7" name="矩形 6"/>
          <p:cNvSpPr/>
          <p:nvPr/>
        </p:nvSpPr>
        <p:spPr bwMode="auto">
          <a:xfrm>
            <a:off x="2956242" y="3224840"/>
            <a:ext cx="1224136" cy="307777"/>
          </a:xfrm>
          <a:prstGeom prst="rect">
            <a:avLst/>
          </a:prstGeom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wrap="square" rtlCol="0" anchor="ctr">
            <a:spAutoFit/>
          </a:bodyPr>
          <a:lstStyle/>
          <a:p>
            <a:pPr algn="ctr" fontAlgn="ctr"/>
            <a:r>
              <a:rPr kumimoji="1" lang="en-US" altLang="zh-CN" sz="1400" b="1" dirty="0">
                <a:latin typeface="微软雅黑" panose="020B0503020204020204" pitchFamily="34" charset="-122"/>
                <a:ea typeface="微软雅黑" panose="020B0503020204020204" pitchFamily="34" charset="-122"/>
                <a:cs typeface="Adobe 楷体 Std R"/>
              </a:rPr>
              <a:t>PD</a:t>
            </a:r>
            <a:endParaRPr kumimoji="1" lang="zh-CN" altLang="en-US" sz="1400" b="1" dirty="0">
              <a:latin typeface="微软雅黑" panose="020B0503020204020204" pitchFamily="34" charset="-122"/>
              <a:ea typeface="微软雅黑" panose="020B0503020204020204" pitchFamily="34" charset="-122"/>
              <a:cs typeface="Adobe 楷体 Std R"/>
            </a:endParaRPr>
          </a:p>
        </p:txBody>
      </p:sp>
    </p:spTree>
  </p:cSld>
  <p:clrMapOvr>
    <a:masterClrMapping/>
  </p:clrMapOvr>
  <p:transition spd="med"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1"/>
          <p:cNvSpPr/>
          <p:nvPr/>
        </p:nvSpPr>
        <p:spPr>
          <a:xfrm>
            <a:off x="5688384" y="147444"/>
            <a:ext cx="4114746" cy="40011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 rtlCol="0" anchor="ctr">
            <a:spAutoFit/>
          </a:bodyPr>
          <a:lstStyle/>
          <a:p>
            <a:pPr algn="r" fontAlgn="ctr"/>
            <a:r>
              <a:rPr lang="zh-CN" altLang="en-US" sz="2000" b="1" noProof="1">
                <a:latin typeface="微软雅黑" panose="020B0503020204020204" pitchFamily="34" charset="-122"/>
                <a:ea typeface="微软雅黑" panose="020B0503020204020204" pitchFamily="34" charset="-122"/>
                <a:cs typeface="Adobe 楷体 Std R"/>
                <a:sym typeface="宋体" panose="02010600030101010101" pitchFamily="2" charset="-122"/>
              </a:rPr>
              <a:t>三、工艺过程及关键控制点</a:t>
            </a:r>
            <a:endParaRPr lang="zh-CN" altLang="en-US" sz="2000" b="1" noProof="1">
              <a:latin typeface="微软雅黑" panose="020B0503020204020204" pitchFamily="34" charset="-122"/>
              <a:ea typeface="微软雅黑" panose="020B0503020204020204" pitchFamily="34" charset="-122"/>
              <a:cs typeface="Adobe 楷体 Std R"/>
              <a:sym typeface="宋体" panose="02010600030101010101" pitchFamily="2" charset="-122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173404" y="5807371"/>
            <a:ext cx="9612000" cy="307777"/>
          </a:xfrm>
          <a:prstGeom prst="rect">
            <a:avLst/>
          </a:prstGeom>
          <a:solidFill>
            <a:srgbClr val="FFFF00"/>
          </a:solidFill>
          <a:ln w="28575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zh-CN" altLang="en-US" sz="1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过程能力分析结论：</a:t>
            </a:r>
            <a:r>
              <a:rPr lang="zh-CN" altLang="en-US" sz="1400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锡膏印刷工序设备先进程度满足要求；设备重复精度满足要求。有钢网自动清洗功能。</a:t>
            </a: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aphicFrame>
        <p:nvGraphicFramePr>
          <p:cNvPr id="10" name="表格 9"/>
          <p:cNvGraphicFramePr>
            <a:graphicFrameLocks noGrp="1"/>
          </p:cNvGraphicFramePr>
          <p:nvPr>
            <p:custDataLst>
              <p:tags r:id="rId1"/>
            </p:custDataLst>
          </p:nvPr>
        </p:nvGraphicFramePr>
        <p:xfrm>
          <a:off x="359792" y="755159"/>
          <a:ext cx="9239225" cy="4861190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1186099"/>
                <a:gridCol w="2593144"/>
                <a:gridCol w="2219622"/>
                <a:gridCol w="3240360"/>
              </a:tblGrid>
              <a:tr h="414828"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200" u="none" strike="noStrike" dirty="0">
                          <a:solidFill>
                            <a:schemeClr val="bg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主要维度</a:t>
                      </a:r>
                      <a:endParaRPr lang="zh-CN" altLang="en-US" sz="1200" b="1" i="0" u="none" strike="noStrike" dirty="0">
                        <a:solidFill>
                          <a:schemeClr val="bg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72000" marR="72000" marT="36000" marB="36000" anchor="ctr">
                    <a:lnL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6600"/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 fontAlgn="ctr"/>
                      <a:r>
                        <a:rPr lang="zh-CN" altLang="en-US" sz="1200" u="none" strike="noStrike" dirty="0">
                          <a:solidFill>
                            <a:schemeClr val="bg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内容</a:t>
                      </a:r>
                      <a:endParaRPr lang="zh-CN" altLang="en-US" sz="1200" b="1" i="0" u="none" strike="noStrike" dirty="0">
                        <a:solidFill>
                          <a:schemeClr val="bg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72000" marR="72000" marT="36000" marB="36000" anchor="ctr">
                    <a:lnL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6600"/>
                    </a:solidFill>
                  </a:tcPr>
                </a:tc>
                <a:tc hMerge="1"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200" u="none" strike="noStrike" dirty="0">
                          <a:solidFill>
                            <a:schemeClr val="bg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资料展示</a:t>
                      </a:r>
                      <a:endParaRPr lang="zh-CN" altLang="en-US" sz="1200" b="1" i="0" u="none" strike="noStrike" dirty="0">
                        <a:solidFill>
                          <a:schemeClr val="bg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72000" marR="72000" marT="36000" marB="36000" anchor="ctr">
                    <a:lnL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6600"/>
                    </a:solidFill>
                  </a:tcPr>
                </a:tc>
              </a:tr>
              <a:tr h="414828"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工序类型</a:t>
                      </a:r>
                      <a:endParaRPr lang="zh-CN" altLang="en-US" sz="1200" b="1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72000" marR="72000" marT="36000" marB="36000" anchor="ctr">
                    <a:lnL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gridSpan="2">
                  <a:txBody>
                    <a:bodyPr/>
                    <a:lstStyle/>
                    <a:p>
                      <a:pPr marL="107950" algn="l" fontAlgn="ctr">
                        <a:buFontTx/>
                        <a:buNone/>
                      </a:pPr>
                      <a:r>
                        <a:rPr lang="zh-CN" altLang="en-US" sz="1200" b="1" u="none" strike="noStrike" dirty="0"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工序说明</a:t>
                      </a:r>
                      <a:endParaRPr lang="en-US" altLang="zh-CN" sz="1200" b="1" u="none" strike="noStrike" dirty="0">
                        <a:solidFill>
                          <a:schemeClr val="bg1">
                            <a:lumMod val="50000"/>
                          </a:schemeClr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72000" marR="72000" marT="36000" marB="36000" anchor="ctr">
                    <a:lnL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00"/>
                    </a:solidFill>
                  </a:tcPr>
                </a:tc>
                <a:tc hMerge="1">
                  <a:tcPr/>
                </a:tc>
                <a:tc rowSpan="5">
                  <a:txBody>
                    <a:bodyPr/>
                    <a:lstStyle/>
                    <a:p>
                      <a:pPr algn="ctr" fontAlgn="ctr"/>
                      <a:endParaRPr lang="en-US" sz="1200" b="1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  <a:p>
                      <a:pPr algn="ctr" fontAlgn="ctr"/>
                      <a:endParaRPr lang="en-US" sz="1200" b="1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  <a:p>
                      <a:pPr algn="ctr" fontAlgn="ctr"/>
                      <a:endParaRPr lang="en-US" sz="1200" b="1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  <a:p>
                      <a:pPr algn="ctr" fontAlgn="ctr"/>
                      <a:endParaRPr lang="en-US" sz="1200" b="1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  <a:p>
                      <a:pPr algn="ctr" fontAlgn="ctr"/>
                      <a:endParaRPr lang="en-US" sz="1200" b="1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  <a:p>
                      <a:pPr algn="ctr" fontAlgn="ctr"/>
                      <a:endParaRPr lang="en-US" sz="1200" b="1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  <a:p>
                      <a:pPr algn="ctr" fontAlgn="ctr"/>
                      <a:endParaRPr lang="en-US" sz="1200" b="1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  <a:p>
                      <a:pPr algn="ctr" fontAlgn="ctr"/>
                      <a:endParaRPr lang="en-US" sz="1200" b="1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  <a:p>
                      <a:pPr algn="ctr" fontAlgn="ctr"/>
                      <a:endParaRPr lang="en-US" sz="1200" b="1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  <a:p>
                      <a:pPr algn="ctr" fontAlgn="ctr"/>
                      <a:endParaRPr lang="en-US" sz="1200" b="1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  <a:p>
                      <a:pPr algn="ctr" fontAlgn="ctr"/>
                      <a:endParaRPr lang="en-US" sz="1200" b="1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  <a:p>
                      <a:pPr algn="ctr" fontAlgn="ctr"/>
                      <a:endParaRPr lang="en-US" sz="1200" b="1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  <a:p>
                      <a:pPr algn="ctr" fontAlgn="ctr"/>
                      <a:endParaRPr lang="en-US" sz="1200" b="1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  <a:p>
                      <a:pPr algn="ctr" fontAlgn="ctr"/>
                      <a:endParaRPr lang="en-US" sz="1200" b="1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  <a:p>
                      <a:pPr algn="ctr" fontAlgn="ctr"/>
                      <a:endParaRPr lang="en-US" sz="1200" b="1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  <a:p>
                      <a:pPr algn="ctr" fontAlgn="ctr"/>
                      <a:r>
                        <a:rPr lang="en-US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锡膏印刷机 EKRA SERIO 4000</a:t>
                      </a:r>
                      <a:endParaRPr lang="en-US" sz="1200" b="1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72000" marR="72000" marT="36000" marB="36000" anchor="ctr">
                    <a:lnL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00"/>
                    </a:solidFill>
                  </a:tcPr>
                </a:tc>
              </a:tr>
              <a:tr h="824447"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200" b="1" u="none" strike="noStrike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关键工序</a:t>
                      </a:r>
                      <a:endParaRPr lang="en-US" altLang="zh-CN" sz="1200" b="1" u="none" strike="noStrike" dirty="0"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  <a:p>
                      <a:pPr algn="ctr" fontAlgn="ctr"/>
                      <a:r>
                        <a:rPr lang="zh-CN" altLang="en-US" sz="1200" b="1" u="none" strike="noStrike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过程能力</a:t>
                      </a:r>
                      <a:endParaRPr lang="zh-CN" altLang="en-US" sz="1200" b="1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72000" marR="72000" marT="36000" marB="36000" anchor="ctr">
                    <a:lnL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gridSpan="2">
                  <a:txBody>
                    <a:bodyPr/>
                    <a:lstStyle/>
                    <a:p>
                      <a:pPr marL="107950" algn="l" fontAlgn="ctr">
                        <a:buFontTx/>
                        <a:buNone/>
                      </a:pPr>
                      <a:r>
                        <a:rPr lang="zh-CN" altLang="en-US" sz="1200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楷体_GB2312"/>
                          <a:sym typeface="+mn-ea"/>
                        </a:rPr>
                        <a:t>印刷压力：</a:t>
                      </a:r>
                      <a:r>
                        <a:rPr lang="en-US" altLang="zh-CN" sz="1200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楷体_GB2312"/>
                          <a:sym typeface="+mn-ea"/>
                        </a:rPr>
                        <a:t>50-120 N</a:t>
                      </a:r>
                      <a:endParaRPr lang="en-US" altLang="zh-CN" sz="1200" dirty="0">
                        <a:solidFill>
                          <a:schemeClr val="bg1">
                            <a:lumMod val="50000"/>
                          </a:schemeClr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楷体_GB2312"/>
                        <a:sym typeface="+mn-ea"/>
                      </a:endParaRPr>
                    </a:p>
                    <a:p>
                      <a:pPr marL="107950" algn="l" fontAlgn="ctr">
                        <a:buFontTx/>
                        <a:buNone/>
                      </a:pPr>
                      <a:r>
                        <a:rPr lang="zh-CN" altLang="en-US" sz="1200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楷体_GB2312"/>
                          <a:sym typeface="+mn-ea"/>
                        </a:rPr>
                        <a:t>印刷速度：</a:t>
                      </a:r>
                      <a:r>
                        <a:rPr lang="en-US" altLang="zh-CN" sz="1200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楷体_GB2312"/>
                          <a:sym typeface="+mn-ea"/>
                        </a:rPr>
                        <a:t>30-90 mm/s</a:t>
                      </a:r>
                      <a:endParaRPr lang="en-US" altLang="zh-CN" sz="1200" dirty="0">
                        <a:solidFill>
                          <a:schemeClr val="bg1">
                            <a:lumMod val="50000"/>
                          </a:schemeClr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楷体_GB2312"/>
                        <a:sym typeface="+mn-ea"/>
                      </a:endParaRPr>
                    </a:p>
                    <a:p>
                      <a:pPr marL="107950" algn="l" fontAlgn="ctr">
                        <a:buFontTx/>
                        <a:buNone/>
                      </a:pPr>
                      <a:r>
                        <a:rPr lang="en-US" altLang="zh-CN" sz="1200" dirty="0"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sym typeface="+mn-ea"/>
                        </a:rPr>
                        <a:t>清洁频率(Panel/次):  2-6</a:t>
                      </a:r>
                      <a:endParaRPr lang="en-US" altLang="zh-CN" sz="1200" dirty="0">
                        <a:solidFill>
                          <a:schemeClr val="bg1">
                            <a:lumMod val="50000"/>
                          </a:schemeClr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sym typeface="+mn-ea"/>
                      </a:endParaRPr>
                    </a:p>
                    <a:p>
                      <a:pPr marL="107950" algn="l" fontAlgn="ctr">
                        <a:buFontTx/>
                        <a:buNone/>
                      </a:pPr>
                      <a:r>
                        <a:rPr lang="en-US" altLang="zh-CN" sz="1200" dirty="0"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sym typeface="+mn-ea"/>
                        </a:rPr>
                        <a:t>CPK</a:t>
                      </a:r>
                      <a:r>
                        <a:rPr lang="zh-CN" altLang="en-US" sz="1200" dirty="0"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sym typeface="+mn-ea"/>
                        </a:rPr>
                        <a:t>值</a:t>
                      </a:r>
                      <a:r>
                        <a:rPr lang="en-US" altLang="zh-CN" sz="1200" dirty="0"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sym typeface="+mn-ea"/>
                        </a:rPr>
                        <a:t>:  X</a:t>
                      </a:r>
                      <a:r>
                        <a:rPr lang="zh-CN" altLang="en-US" sz="1200" dirty="0"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sym typeface="+mn-ea"/>
                        </a:rPr>
                        <a:t>轴：2.04，</a:t>
                      </a:r>
                      <a:r>
                        <a:rPr lang="en-US" altLang="zh-CN" sz="1200" dirty="0"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sym typeface="+mn-ea"/>
                        </a:rPr>
                        <a:t>Y</a:t>
                      </a:r>
                      <a:r>
                        <a:rPr lang="zh-CN" altLang="en-US" sz="1200" dirty="0"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sym typeface="+mn-ea"/>
                        </a:rPr>
                        <a:t>轴：</a:t>
                      </a:r>
                      <a:r>
                        <a:rPr lang="en-US" altLang="zh-CN" sz="1200" dirty="0"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sym typeface="+mn-ea"/>
                        </a:rPr>
                        <a:t>3.0</a:t>
                      </a:r>
                      <a:r>
                        <a:rPr lang="zh-CN" altLang="en-US" sz="1200" dirty="0"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sym typeface="+mn-ea"/>
                        </a:rPr>
                        <a:t>，</a:t>
                      </a:r>
                      <a:r>
                        <a:rPr lang="en-US" altLang="zh-CN" sz="1200" dirty="0"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sym typeface="+mn-ea"/>
                        </a:rPr>
                        <a:t>  Rotation(</a:t>
                      </a:r>
                      <a:r>
                        <a:rPr lang="zh-CN" altLang="en-US" sz="1200" dirty="0"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sym typeface="+mn-ea"/>
                        </a:rPr>
                        <a:t>角度</a:t>
                      </a:r>
                      <a:r>
                        <a:rPr lang="en-US" altLang="zh-CN" sz="1200" dirty="0"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sym typeface="+mn-ea"/>
                        </a:rPr>
                        <a:t>)</a:t>
                      </a:r>
                      <a:r>
                        <a:rPr lang="zh-CN" altLang="en-US" sz="1200" dirty="0"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sym typeface="+mn-ea"/>
                        </a:rPr>
                        <a:t>：</a:t>
                      </a:r>
                      <a:r>
                        <a:rPr lang="en-US" altLang="zh-CN" sz="1200" dirty="0"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sym typeface="+mn-ea"/>
                        </a:rPr>
                        <a:t>6.1</a:t>
                      </a:r>
                      <a:endParaRPr lang="en-US" altLang="zh-CN" sz="1200" u="none" strike="noStrike" dirty="0">
                        <a:solidFill>
                          <a:schemeClr val="bg1">
                            <a:lumMod val="50000"/>
                          </a:schemeClr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72000" marR="72000" marT="36000" marB="36000" anchor="ctr">
                    <a:lnL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00"/>
                    </a:solidFill>
                  </a:tcPr>
                </a:tc>
                <a:tc hMerge="1">
                  <a:tcPr/>
                </a:tc>
                <a:tc vMerge="1">
                  <a:tcPr marL="0" marR="0" marT="0" marB="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712473"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200" b="1" u="none" strike="noStrike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关键工序</a:t>
                      </a:r>
                      <a:endParaRPr lang="en-US" altLang="zh-CN" sz="1200" b="1" u="none" strike="noStrike" dirty="0"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  <a:p>
                      <a:pPr algn="ctr" fontAlgn="ctr"/>
                      <a:r>
                        <a:rPr lang="zh-CN" altLang="en-US" sz="1200" b="1" u="none" strike="noStrike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设备水平</a:t>
                      </a:r>
                      <a:endParaRPr lang="zh-CN" altLang="en-US" sz="1200" b="1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72000" marR="72000" marT="36000" marB="36000" anchor="ctr">
                    <a:lnL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gridSpan="2">
                  <a:txBody>
                    <a:bodyPr/>
                    <a:lstStyle/>
                    <a:p>
                      <a:pPr marL="107950" algn="l" fontAlgn="ctr">
                        <a:lnSpc>
                          <a:spcPct val="100000"/>
                        </a:lnSpc>
                        <a:buClrTx/>
                        <a:buSzTx/>
                        <a:buFont typeface="Wingdings" panose="05000000000000000000" pitchFamily="2" charset="2"/>
                        <a:buNone/>
                      </a:pPr>
                      <a:r>
                        <a:rPr lang="zh-CN" altLang="en-US" sz="1200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楷体_GB2312"/>
                          <a:sym typeface="+mn-ea"/>
                        </a:rPr>
                        <a:t>最大PCB尺寸：510 x 510mm，厚度: 0.2-6mm；</a:t>
                      </a:r>
                      <a:endParaRPr lang="zh-CN" altLang="en-US" sz="1200" dirty="0">
                        <a:solidFill>
                          <a:schemeClr val="bg1">
                            <a:lumMod val="50000"/>
                          </a:schemeClr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楷体_GB2312"/>
                      </a:endParaRPr>
                    </a:p>
                    <a:p>
                      <a:pPr marL="107950" algn="l" fontAlgn="ctr">
                        <a:lnSpc>
                          <a:spcPct val="100000"/>
                        </a:lnSpc>
                        <a:buClrTx/>
                        <a:buSzTx/>
                        <a:buFont typeface="Wingdings" panose="05000000000000000000" pitchFamily="2" charset="2"/>
                        <a:buNone/>
                      </a:pPr>
                      <a:r>
                        <a:rPr lang="zh-CN" altLang="en-US" sz="1200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楷体_GB2312"/>
                          <a:sym typeface="+mn-ea"/>
                        </a:rPr>
                        <a:t>印刷重复精度：± 12.5 μm；</a:t>
                      </a:r>
                      <a:endParaRPr lang="zh-CN" altLang="en-US" sz="1200" u="none" strike="noStrike" dirty="0">
                        <a:solidFill>
                          <a:schemeClr val="bg1">
                            <a:lumMod val="50000"/>
                          </a:schemeClr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楷体_GB2312"/>
                      </a:endParaRPr>
                    </a:p>
                  </a:txBody>
                  <a:tcPr marL="72000" marR="72000" marT="36000" marB="36000" anchor="ctr">
                    <a:lnL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00"/>
                    </a:solidFill>
                  </a:tcPr>
                </a:tc>
                <a:tc hMerge="1">
                  <a:tcPr/>
                </a:tc>
                <a:tc vMerge="1">
                  <a:tcPr marL="0" marR="0" marT="0" marB="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1069668"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200" b="1" u="none" strike="noStrike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质量业绩</a:t>
                      </a:r>
                      <a:endParaRPr lang="en-US" altLang="zh-CN" sz="1200" b="1" u="none" strike="noStrike" dirty="0"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  <a:p>
                      <a:pPr algn="ctr" fontAlgn="ctr"/>
                      <a:r>
                        <a:rPr lang="zh-CN" altLang="en-US" sz="1200" b="1" u="none" strike="noStrike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体系内</a:t>
                      </a:r>
                      <a:r>
                        <a:rPr lang="en-US" altLang="zh-CN" sz="1200" b="1" u="none" strike="noStrike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/</a:t>
                      </a:r>
                      <a:r>
                        <a:rPr lang="zh-CN" altLang="en-US" sz="1200" b="1" u="none" strike="noStrike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行业内</a:t>
                      </a:r>
                      <a:endParaRPr lang="zh-CN" altLang="en-US" sz="1200" b="1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72000" marR="72000" marT="36000" marB="36000" anchor="ctr">
                    <a:lnL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1200" u="none" strike="noStrike" kern="1200" baseline="0" dirty="0"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德国进口设备，</a:t>
                      </a:r>
                      <a:r>
                        <a:rPr lang="en-US" altLang="zh-CN" sz="1200" u="none" strike="noStrike" kern="1200" baseline="0" dirty="0" err="1"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Ekra</a:t>
                      </a:r>
                      <a:r>
                        <a:rPr lang="zh-CN" altLang="en-US" sz="1200" u="none" strike="noStrike" kern="1200" baseline="0" dirty="0"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印刷机是行业一线品牌，质量稳定</a:t>
                      </a:r>
                      <a:r>
                        <a:rPr lang="zh-CN" altLang="en-US" sz="1200" dirty="0"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sym typeface="+mn-ea"/>
                        </a:rPr>
                        <a:t>可靠</a:t>
                      </a:r>
                      <a:endParaRPr lang="zh-CN" altLang="en-US" sz="1200" u="none" strike="noStrike" kern="1200" baseline="0" dirty="0">
                        <a:solidFill>
                          <a:schemeClr val="bg1">
                            <a:lumMod val="50000"/>
                          </a:schemeClr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72000" marR="72000" marT="36000" marB="36000" anchor="ctr">
                    <a:lnL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00"/>
                    </a:solidFill>
                  </a:tcPr>
                </a:tc>
                <a:tc hMerge="1">
                  <a:tcPr marL="72000" marR="72000" marT="36000" marB="3600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vMerge="1">
                  <a:tcPr marL="0" marR="0" marT="0" marB="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712473"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200" b="1" u="none" strike="noStrike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供应商</a:t>
                      </a:r>
                      <a:endParaRPr lang="en-US" altLang="zh-CN" sz="1200" b="1" u="none" strike="noStrike" dirty="0"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  <a:p>
                      <a:pPr algn="ctr" fontAlgn="ctr"/>
                      <a:r>
                        <a:rPr lang="zh-CN" altLang="en-US" sz="1200" b="1" u="none" strike="noStrike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承诺产能</a:t>
                      </a:r>
                      <a:endParaRPr lang="en-US" altLang="zh-CN" sz="1200" b="1" u="none" strike="noStrike" dirty="0"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72000" marR="72000" marT="36000" marB="36000" anchor="ctr">
                    <a:lnL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gridSpan="2"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</a:pPr>
                      <a:r>
                        <a:rPr lang="zh-CN" altLang="en-US" sz="1200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Arial Unicode MS" panose="020B0604020202020204" pitchFamily="34" charset="-122"/>
                          <a:sym typeface="+mn-ea"/>
                        </a:rPr>
                        <a:t>规划年产能：100万片 PCBA，实际产量：40万片 PCBA（使用率40%）</a:t>
                      </a:r>
                      <a:endParaRPr lang="en-US" altLang="zh-CN" sz="1200" dirty="0">
                        <a:solidFill>
                          <a:schemeClr val="bg1">
                            <a:lumMod val="50000"/>
                          </a:schemeClr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Arial Unicode MS" panose="020B0604020202020204" pitchFamily="34" charset="-122"/>
                      </a:endParaRPr>
                    </a:p>
                  </a:txBody>
                  <a:tcPr marL="72000" marR="72000" marT="36000" marB="36000" anchor="ctr">
                    <a:lnL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00"/>
                    </a:solidFill>
                  </a:tcPr>
                </a:tc>
                <a:tc hMerge="1">
                  <a:tcPr/>
                </a:tc>
                <a:tc vMerge="1">
                  <a:tcPr marL="0" marR="0" marT="0" marB="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712473"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吉利特殊</a:t>
                      </a:r>
                      <a:endParaRPr lang="en-US" altLang="zh-CN" sz="1200" b="1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  <a:p>
                      <a:pPr algn="ctr" fontAlgn="ctr"/>
                      <a:r>
                        <a:rPr lang="zh-CN" altLang="en-US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要求</a:t>
                      </a:r>
                      <a:endParaRPr lang="zh-CN" altLang="en-US" sz="1200" b="1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72000" marR="72000" marT="36000" marB="36000" anchor="ctr">
                    <a:lnL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107950" marR="0" lvl="0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1200" b="0" i="0" u="none" strike="noStrike" kern="1200" dirty="0"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钢网张力要求≥</a:t>
                      </a:r>
                      <a:r>
                        <a:rPr lang="en-US" altLang="zh-CN" sz="1200" b="0" i="0" u="none" strike="noStrike" kern="1200" dirty="0"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35N</a:t>
                      </a:r>
                      <a:r>
                        <a:rPr lang="zh-CN" altLang="en-US" sz="1200" b="0" i="0" u="none" strike="noStrike" kern="1200" dirty="0"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，两点间最大张力差值≤</a:t>
                      </a:r>
                      <a:r>
                        <a:rPr lang="en-US" altLang="zh-CN" sz="1200" b="0" i="0" u="none" strike="noStrike" kern="1200" dirty="0"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8N</a:t>
                      </a:r>
                      <a:r>
                        <a:rPr lang="zh-CN" altLang="en-US" sz="1200" b="0" i="0" u="none" strike="noStrike" kern="1200" dirty="0"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，供应商可满足该要求</a:t>
                      </a:r>
                      <a:endParaRPr lang="en-US" altLang="zh-CN" sz="1200" b="0" i="0" u="none" strike="noStrike" kern="1200" dirty="0">
                        <a:solidFill>
                          <a:schemeClr val="bg1">
                            <a:lumMod val="50000"/>
                          </a:schemeClr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 marL="72000" marR="72000" marT="36000" marB="36000" anchor="ctr">
                    <a:lnL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1200" b="1" i="0" u="none" strike="noStrike" kern="1200" dirty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质量协议是否同意</a:t>
                      </a:r>
                      <a:endParaRPr lang="zh-CN" dirty="0"/>
                    </a:p>
                  </a:txBody>
                  <a:tcPr marL="72000" marR="72000" marT="36000" marB="36000" anchor="ctr">
                    <a:lnL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1200" b="1" i="0" u="none" strike="noStrike" kern="1200" dirty="0"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同意</a:t>
                      </a:r>
                      <a:r>
                        <a:rPr lang="zh-CN" altLang="en-US" sz="12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吉利</a:t>
                      </a:r>
                      <a:r>
                        <a:rPr lang="zh-CN" altLang="en-US" sz="12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质量协议</a:t>
                      </a:r>
                      <a:endParaRPr lang="zh-CN" altLang="en-US" sz="1200" b="0" i="0" u="none" strike="noStrike" kern="1200" dirty="0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 marL="72000" marR="72000" marT="36000" marB="36000" anchor="ctr">
                    <a:lnL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00"/>
                    </a:solidFill>
                  </a:tcPr>
                </a:tc>
              </a:tr>
            </a:tbl>
          </a:graphicData>
        </a:graphic>
      </p:graphicFrame>
      <p:pic>
        <p:nvPicPr>
          <p:cNvPr id="11" name="图片 10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3"/>
          <a:stretch>
            <a:fillRect/>
          </a:stretch>
        </p:blipFill>
        <p:spPr>
          <a:xfrm>
            <a:off x="6862713" y="1529052"/>
            <a:ext cx="2115269" cy="2473951"/>
          </a:xfrm>
          <a:prstGeom prst="rect">
            <a:avLst/>
          </a:prstGeom>
        </p:spPr>
      </p:pic>
      <p:sp>
        <p:nvSpPr>
          <p:cNvPr id="2" name="矩形 1"/>
          <p:cNvSpPr/>
          <p:nvPr/>
        </p:nvSpPr>
        <p:spPr bwMode="auto">
          <a:xfrm>
            <a:off x="2736056" y="1225692"/>
            <a:ext cx="1224136" cy="307777"/>
          </a:xfrm>
          <a:prstGeom prst="rect">
            <a:avLst/>
          </a:prstGeom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wrap="square" rtlCol="0" anchor="ctr">
            <a:spAutoFit/>
          </a:bodyPr>
          <a:lstStyle/>
          <a:p>
            <a:pPr algn="ctr" fontAlgn="ctr"/>
            <a:r>
              <a:rPr kumimoji="1" lang="en-US" altLang="zh-CN" sz="1400" b="1" dirty="0">
                <a:latin typeface="微软雅黑" panose="020B0503020204020204" pitchFamily="34" charset="-122"/>
                <a:ea typeface="微软雅黑" panose="020B0503020204020204" pitchFamily="34" charset="-122"/>
                <a:cs typeface="Adobe 楷体 Std R"/>
              </a:rPr>
              <a:t>TPM</a:t>
            </a:r>
            <a:endParaRPr kumimoji="1" lang="zh-CN" altLang="en-US" sz="1400" b="1" dirty="0">
              <a:latin typeface="微软雅黑" panose="020B0503020204020204" pitchFamily="34" charset="-122"/>
              <a:ea typeface="微软雅黑" panose="020B0503020204020204" pitchFamily="34" charset="-122"/>
              <a:cs typeface="Adobe 楷体 Std R"/>
            </a:endParaRPr>
          </a:p>
        </p:txBody>
      </p:sp>
    </p:spTree>
  </p:cSld>
  <p:clrMapOvr>
    <a:masterClrMapping/>
  </p:clrMapOvr>
  <p:transition spd="med"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1"/>
          <p:cNvSpPr/>
          <p:nvPr/>
        </p:nvSpPr>
        <p:spPr>
          <a:xfrm>
            <a:off x="5688384" y="147444"/>
            <a:ext cx="4114746" cy="40011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 rtlCol="0" anchor="ctr">
            <a:spAutoFit/>
          </a:bodyPr>
          <a:lstStyle/>
          <a:p>
            <a:pPr algn="r" fontAlgn="ctr"/>
            <a:r>
              <a:rPr lang="zh-CN" altLang="en-US" sz="2000" b="1" noProof="1">
                <a:latin typeface="微软雅黑" panose="020B0503020204020204" pitchFamily="34" charset="-122"/>
                <a:ea typeface="微软雅黑" panose="020B0503020204020204" pitchFamily="34" charset="-122"/>
                <a:cs typeface="Adobe 楷体 Std R"/>
                <a:sym typeface="宋体" panose="02010600030101010101" pitchFamily="2" charset="-122"/>
              </a:rPr>
              <a:t>三、工艺过程及关键控制点</a:t>
            </a:r>
            <a:endParaRPr lang="zh-CN" altLang="en-US" sz="2000" b="1" noProof="1">
              <a:latin typeface="微软雅黑" panose="020B0503020204020204" pitchFamily="34" charset="-122"/>
              <a:ea typeface="微软雅黑" panose="020B0503020204020204" pitchFamily="34" charset="-122"/>
              <a:cs typeface="Adobe 楷体 Std R"/>
              <a:sym typeface="宋体" panose="02010600030101010101" pitchFamily="2" charset="-122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173404" y="5807371"/>
            <a:ext cx="9612000" cy="307777"/>
          </a:xfrm>
          <a:prstGeom prst="rect">
            <a:avLst/>
          </a:prstGeom>
          <a:ln w="28575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zh-CN" altLang="en-US" sz="1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过程能力分析结论：</a:t>
            </a:r>
            <a:endParaRPr lang="zh-CN" altLang="en-US" sz="1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aphicFrame>
        <p:nvGraphicFramePr>
          <p:cNvPr id="10" name="表格 9"/>
          <p:cNvGraphicFramePr>
            <a:graphicFrameLocks noGrp="1"/>
          </p:cNvGraphicFramePr>
          <p:nvPr>
            <p:custDataLst>
              <p:tags r:id="rId1"/>
            </p:custDataLst>
          </p:nvPr>
        </p:nvGraphicFramePr>
        <p:xfrm>
          <a:off x="359792" y="755159"/>
          <a:ext cx="9239225" cy="4861190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1186099"/>
                <a:gridCol w="2593144"/>
                <a:gridCol w="2219622"/>
                <a:gridCol w="3240360"/>
              </a:tblGrid>
              <a:tr h="414828"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200" u="none" strike="noStrike" dirty="0">
                          <a:solidFill>
                            <a:schemeClr val="bg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主要维度</a:t>
                      </a:r>
                      <a:endParaRPr lang="zh-CN" altLang="en-US" sz="1200" b="1" i="0" u="none" strike="noStrike" dirty="0">
                        <a:solidFill>
                          <a:schemeClr val="bg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72000" marR="72000" marT="36000" marB="36000" anchor="ctr">
                    <a:lnL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6600"/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 fontAlgn="ctr"/>
                      <a:r>
                        <a:rPr lang="zh-CN" altLang="en-US" sz="1200" u="none" strike="noStrike" dirty="0">
                          <a:solidFill>
                            <a:schemeClr val="bg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内容</a:t>
                      </a:r>
                      <a:endParaRPr lang="zh-CN" altLang="en-US" sz="1200" b="1" i="0" u="none" strike="noStrike" dirty="0">
                        <a:solidFill>
                          <a:schemeClr val="bg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72000" marR="72000" marT="36000" marB="36000" anchor="ctr">
                    <a:lnL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6600"/>
                    </a:solidFill>
                  </a:tcPr>
                </a:tc>
                <a:tc hMerge="1"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200" u="none" strike="noStrike" dirty="0">
                          <a:solidFill>
                            <a:schemeClr val="bg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资料展示</a:t>
                      </a:r>
                      <a:endParaRPr lang="zh-CN" altLang="en-US" sz="1200" b="1" i="0" u="none" strike="noStrike" dirty="0">
                        <a:solidFill>
                          <a:schemeClr val="bg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72000" marR="72000" marT="36000" marB="36000" anchor="ctr">
                    <a:lnL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6600"/>
                    </a:solidFill>
                  </a:tcPr>
                </a:tc>
              </a:tr>
              <a:tr h="414828"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工序类型</a:t>
                      </a:r>
                      <a:endParaRPr lang="zh-CN" altLang="en-US" sz="1200" b="1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72000" marR="72000" marT="36000" marB="36000" anchor="ctr">
                    <a:lnL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gridSpan="2">
                  <a:txBody>
                    <a:bodyPr/>
                    <a:lstStyle/>
                    <a:p>
                      <a:pPr marL="107950" algn="l" fontAlgn="ctr">
                        <a:buFontTx/>
                        <a:buNone/>
                      </a:pPr>
                      <a:endParaRPr lang="en-US" altLang="zh-CN" sz="1200" b="1" u="none" strike="noStrike" dirty="0"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72000" marR="72000" marT="36000" marB="36000" anchor="ctr">
                    <a:lnL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cPr/>
                </a:tc>
                <a:tc rowSpan="5">
                  <a:txBody>
                    <a:bodyPr/>
                    <a:lstStyle/>
                    <a:p>
                      <a:pPr algn="ctr" fontAlgn="ctr"/>
                      <a:endParaRPr lang="en-US" sz="1200" b="1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  <a:p>
                      <a:pPr algn="ctr" fontAlgn="ctr"/>
                      <a:endParaRPr lang="en-US" sz="1200" b="1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  <a:p>
                      <a:pPr algn="ctr" fontAlgn="ctr"/>
                      <a:endParaRPr lang="en-US" sz="1200" b="1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  <a:p>
                      <a:pPr algn="ctr" fontAlgn="ctr"/>
                      <a:endParaRPr lang="en-US" sz="1200" b="1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  <a:p>
                      <a:pPr algn="ctr" fontAlgn="ctr"/>
                      <a:endParaRPr lang="en-US" sz="1200" b="1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  <a:p>
                      <a:pPr algn="ctr" fontAlgn="ctr"/>
                      <a:endParaRPr lang="en-US" sz="1200" b="1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  <a:p>
                      <a:pPr algn="ctr" fontAlgn="ctr"/>
                      <a:endParaRPr lang="en-US" sz="1200" b="1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  <a:p>
                      <a:pPr algn="ctr" fontAlgn="ctr"/>
                      <a:endParaRPr lang="en-US" sz="1200" b="1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  <a:p>
                      <a:pPr algn="ctr" fontAlgn="ctr"/>
                      <a:endParaRPr lang="en-US" sz="1200" b="1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  <a:p>
                      <a:pPr algn="ctr" fontAlgn="ctr"/>
                      <a:endParaRPr lang="en-US" sz="1200" b="1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  <a:p>
                      <a:pPr algn="ctr" fontAlgn="ctr"/>
                      <a:endParaRPr lang="en-US" sz="1200" b="1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  <a:p>
                      <a:pPr algn="ctr" fontAlgn="ctr"/>
                      <a:endParaRPr lang="en-US" sz="1200" b="1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  <a:p>
                      <a:pPr algn="ctr" fontAlgn="ctr"/>
                      <a:endParaRPr lang="en-US" sz="1200" b="1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  <a:p>
                      <a:pPr algn="ctr" fontAlgn="ctr"/>
                      <a:endParaRPr lang="en-US" sz="1200" b="1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  <a:p>
                      <a:pPr algn="ctr" fontAlgn="ctr"/>
                      <a:endParaRPr lang="en-US" sz="1200" b="1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72000" marR="72000" marT="36000" marB="36000" anchor="ctr">
                    <a:lnL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  <a:tr h="824447"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200" b="1" u="none" strike="noStrike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关键工序</a:t>
                      </a:r>
                      <a:endParaRPr lang="en-US" altLang="zh-CN" sz="1200" b="1" u="none" strike="noStrike" dirty="0"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  <a:p>
                      <a:pPr algn="ctr" fontAlgn="ctr"/>
                      <a:r>
                        <a:rPr lang="zh-CN" altLang="en-US" sz="1200" b="1" u="none" strike="noStrike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过程能力</a:t>
                      </a:r>
                      <a:endParaRPr lang="zh-CN" altLang="en-US" sz="1200" b="1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72000" marR="72000" marT="36000" marB="36000" anchor="ctr">
                    <a:lnL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gridSpan="2">
                  <a:txBody>
                    <a:bodyPr/>
                    <a:lstStyle/>
                    <a:p>
                      <a:pPr marL="107950" algn="l" fontAlgn="ctr">
                        <a:buFontTx/>
                        <a:buNone/>
                      </a:pPr>
                      <a:endParaRPr lang="en-US" altLang="zh-CN" sz="1200" u="none" strike="noStrike" dirty="0"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72000" marR="72000" marT="36000" marB="36000" anchor="ctr">
                    <a:lnL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cPr/>
                </a:tc>
                <a:tc vMerge="1">
                  <a:tcPr marL="0" marR="0" marT="0" marB="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712473"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200" b="1" u="none" strike="noStrike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关键工序</a:t>
                      </a:r>
                      <a:endParaRPr lang="en-US" altLang="zh-CN" sz="1200" b="1" u="none" strike="noStrike" dirty="0"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  <a:p>
                      <a:pPr algn="ctr" fontAlgn="ctr"/>
                      <a:r>
                        <a:rPr lang="zh-CN" altLang="en-US" sz="1200" b="1" u="none" strike="noStrike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设备水平</a:t>
                      </a:r>
                      <a:endParaRPr lang="zh-CN" altLang="en-US" sz="1200" b="1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72000" marR="72000" marT="36000" marB="36000" anchor="ctr">
                    <a:lnL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gridSpan="2">
                  <a:txBody>
                    <a:bodyPr/>
                    <a:lstStyle/>
                    <a:p>
                      <a:pPr marL="107950" indent="0" algn="l" fontAlgn="ctr">
                        <a:lnSpc>
                          <a:spcPct val="100000"/>
                        </a:lnSpc>
                        <a:buClrTx/>
                        <a:buSzTx/>
                        <a:buFont typeface="Wingdings" panose="05000000000000000000" pitchFamily="2" charset="2"/>
                        <a:buNone/>
                      </a:pPr>
                      <a:endParaRPr lang="en-US" altLang="zh-CN" sz="1200" u="none" strike="noStrike" dirty="0"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72000" marR="72000" marT="36000" marB="36000" anchor="ctr">
                    <a:lnL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cPr/>
                </a:tc>
                <a:tc vMerge="1">
                  <a:tcPr marL="0" marR="0" marT="0" marB="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1069668"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200" b="1" u="none" strike="noStrike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质量业绩</a:t>
                      </a:r>
                      <a:endParaRPr lang="en-US" altLang="zh-CN" sz="1200" b="1" u="none" strike="noStrike" dirty="0"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  <a:p>
                      <a:pPr algn="ctr" fontAlgn="ctr"/>
                      <a:r>
                        <a:rPr lang="zh-CN" altLang="en-US" sz="1200" b="1" u="none" strike="noStrike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体系内</a:t>
                      </a:r>
                      <a:r>
                        <a:rPr lang="en-US" altLang="zh-CN" sz="1200" b="1" u="none" strike="noStrike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/</a:t>
                      </a:r>
                      <a:r>
                        <a:rPr lang="zh-CN" altLang="en-US" sz="1200" b="1" u="none" strike="noStrike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行业内</a:t>
                      </a:r>
                      <a:endParaRPr lang="zh-CN" altLang="en-US" sz="1200" b="1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72000" marR="72000" marT="36000" marB="36000" anchor="ctr">
                    <a:lnL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en-US" altLang="zh-CN" sz="1200" u="none" strike="noStrike" kern="1200" baseline="0" dirty="0"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72000" marR="72000" marT="36000" marB="36000" anchor="ctr">
                    <a:lnL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cPr marL="72000" marR="72000" marT="36000" marB="3600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vMerge="1">
                  <a:tcPr marL="0" marR="0" marT="0" marB="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712473"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200" b="1" u="none" strike="noStrike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供应商</a:t>
                      </a:r>
                      <a:endParaRPr lang="en-US" altLang="zh-CN" sz="1200" b="1" u="none" strike="noStrike" dirty="0"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  <a:p>
                      <a:pPr algn="ctr" fontAlgn="ctr"/>
                      <a:r>
                        <a:rPr lang="zh-CN" altLang="en-US" sz="1200" b="1" u="none" strike="noStrike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承诺产能</a:t>
                      </a:r>
                      <a:endParaRPr lang="en-US" altLang="zh-CN" sz="1200" b="1" u="none" strike="noStrike" dirty="0"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72000" marR="72000" marT="36000" marB="36000" anchor="ctr">
                    <a:lnL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gridSpan="2"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</a:pPr>
                      <a:endParaRPr lang="en-US" altLang="zh-CN" sz="1200" dirty="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Arial Unicode MS" panose="020B0604020202020204" pitchFamily="34" charset="-122"/>
                      </a:endParaRPr>
                    </a:p>
                  </a:txBody>
                  <a:tcPr marL="72000" marR="72000" marT="36000" marB="36000" anchor="ctr">
                    <a:lnL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cPr/>
                </a:tc>
                <a:tc vMerge="1">
                  <a:tcPr marL="0" marR="0" marT="0" marB="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712473"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吉利特殊</a:t>
                      </a:r>
                      <a:endParaRPr lang="en-US" altLang="zh-CN" sz="1200" b="1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  <a:p>
                      <a:pPr algn="ctr" fontAlgn="ctr"/>
                      <a:r>
                        <a:rPr lang="zh-CN" altLang="en-US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要求</a:t>
                      </a:r>
                      <a:endParaRPr lang="zh-CN" altLang="en-US" sz="1200" b="1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72000" marR="72000" marT="36000" marB="36000" anchor="ctr">
                    <a:lnL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107950" marR="0" lvl="0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en-US" altLang="zh-CN" sz="1200" b="0" i="0" u="none" strike="noStrike" kern="1200" dirty="0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 marL="72000" marR="72000" marT="36000" marB="36000" anchor="ctr">
                    <a:lnL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1200" b="1" i="0" u="none" strike="noStrike" kern="1200" dirty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质量协议是否同意</a:t>
                      </a:r>
                      <a:endParaRPr lang="zh-CN" dirty="0"/>
                    </a:p>
                  </a:txBody>
                  <a:tcPr marL="72000" marR="72000" marT="36000" marB="36000" anchor="ctr">
                    <a:lnL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sz="1200" b="0" i="0" u="none" strike="noStrike" kern="1200" dirty="0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 marL="72000" marR="72000" marT="36000" marB="36000" anchor="ctr">
                    <a:lnL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</a:tbl>
          </a:graphicData>
        </a:graphic>
      </p:graphicFrame>
      <p:sp>
        <p:nvSpPr>
          <p:cNvPr id="2" name="矩形 1"/>
          <p:cNvSpPr/>
          <p:nvPr/>
        </p:nvSpPr>
        <p:spPr bwMode="auto">
          <a:xfrm>
            <a:off x="2736056" y="1225692"/>
            <a:ext cx="1224136" cy="307777"/>
          </a:xfrm>
          <a:prstGeom prst="rect">
            <a:avLst/>
          </a:prstGeom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wrap="square" rtlCol="0" anchor="ctr">
            <a:spAutoFit/>
          </a:bodyPr>
          <a:lstStyle/>
          <a:p>
            <a:pPr algn="ctr" fontAlgn="ctr"/>
            <a:r>
              <a:rPr kumimoji="1" lang="en-US" altLang="zh-CN" sz="1400" b="1" dirty="0">
                <a:latin typeface="微软雅黑" panose="020B0503020204020204" pitchFamily="34" charset="-122"/>
                <a:ea typeface="微软雅黑" panose="020B0503020204020204" pitchFamily="34" charset="-122"/>
                <a:cs typeface="Adobe 楷体 Std R"/>
              </a:rPr>
              <a:t>TPM</a:t>
            </a:r>
            <a:endParaRPr kumimoji="1" lang="zh-CN" altLang="en-US" sz="1400" b="1" dirty="0">
              <a:latin typeface="微软雅黑" panose="020B0503020204020204" pitchFamily="34" charset="-122"/>
              <a:ea typeface="微软雅黑" panose="020B0503020204020204" pitchFamily="34" charset="-122"/>
              <a:cs typeface="Adobe 楷体 Std R"/>
            </a:endParaRPr>
          </a:p>
        </p:txBody>
      </p:sp>
    </p:spTree>
  </p:cSld>
  <p:clrMapOvr>
    <a:masterClrMapping/>
  </p:clrMapOvr>
  <p:transition spd="med"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标题 1"/>
          <p:cNvSpPr/>
          <p:nvPr/>
        </p:nvSpPr>
        <p:spPr>
          <a:xfrm>
            <a:off x="6696497" y="143743"/>
            <a:ext cx="3161170" cy="40011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 rtlCol="0" anchor="ctr">
            <a:spAutoFit/>
          </a:bodyPr>
          <a:lstStyle/>
          <a:p>
            <a:pPr algn="r" fontAlgn="ctr"/>
            <a:r>
              <a:rPr lang="zh-CN" altLang="en-US" sz="2000" b="1" noProof="1">
                <a:latin typeface="微软雅黑" panose="020B0503020204020204" pitchFamily="34" charset="-122"/>
                <a:ea typeface="微软雅黑" panose="020B0503020204020204" pitchFamily="34" charset="-122"/>
                <a:cs typeface="Adobe 楷体 Std R"/>
                <a:sym typeface="宋体" panose="02010600030101010101" pitchFamily="2" charset="-122"/>
              </a:rPr>
              <a:t>四、供应商潜在风险识别</a:t>
            </a:r>
            <a:endParaRPr lang="zh-CN" altLang="en-US" sz="2000" b="1" noProof="1">
              <a:latin typeface="微软雅黑" panose="020B0503020204020204" pitchFamily="34" charset="-122"/>
              <a:ea typeface="微软雅黑" panose="020B0503020204020204" pitchFamily="34" charset="-122"/>
              <a:cs typeface="Adobe 楷体 Std R"/>
              <a:sym typeface="宋体" panose="02010600030101010101" pitchFamily="2" charset="-122"/>
            </a:endParaRPr>
          </a:p>
        </p:txBody>
      </p:sp>
      <p:graphicFrame>
        <p:nvGraphicFramePr>
          <p:cNvPr id="2" name="表格 1"/>
          <p:cNvGraphicFramePr>
            <a:graphicFrameLocks noGrp="1"/>
          </p:cNvGraphicFramePr>
          <p:nvPr/>
        </p:nvGraphicFramePr>
        <p:xfrm>
          <a:off x="71759" y="771586"/>
          <a:ext cx="9785906" cy="5564845"/>
        </p:xfrm>
        <a:graphic>
          <a:graphicData uri="http://schemas.openxmlformats.org/drawingml/2006/table">
            <a:tbl>
              <a:tblPr firstRow="1">
                <a:tableStyleId>{5940675A-B579-460E-94D1-54222C63F5DA}</a:tableStyleId>
              </a:tblPr>
              <a:tblGrid>
                <a:gridCol w="1210258"/>
                <a:gridCol w="1798198"/>
                <a:gridCol w="6777450"/>
              </a:tblGrid>
              <a:tr h="259827"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200" b="1" u="none" strike="noStrike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模块</a:t>
                      </a:r>
                      <a:endParaRPr lang="zh-CN" altLang="en-US" sz="1200" b="1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9525" marR="9525" marT="9525" marB="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200" b="1" u="none" strike="noStrike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关键评价维度</a:t>
                      </a:r>
                      <a:endParaRPr lang="zh-CN" altLang="en-US" sz="1200" b="1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9525" marR="9525" marT="9525" marB="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200" b="1" u="none" strike="noStrike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评语结论（风险项用红色高亮显示）</a:t>
                      </a:r>
                      <a:endParaRPr lang="zh-CN" altLang="en-US" sz="1200" b="1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9525" marR="9525" marT="9525" marB="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</a:tr>
              <a:tr h="505507">
                <a:tc rowSpan="5">
                  <a:txBody>
                    <a:bodyPr/>
                    <a:lstStyle/>
                    <a:p>
                      <a:pPr algn="ctr" fontAlgn="ctr"/>
                      <a:r>
                        <a:rPr lang="zh-CN" altLang="en-US" sz="1100" u="none" strike="noStrike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研发技术能力</a:t>
                      </a:r>
                      <a:r>
                        <a:rPr lang="zh-CN" altLang="en-US" sz="1100" b="1" u="none" strike="noStrike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（</a:t>
                      </a:r>
                      <a:r>
                        <a:rPr lang="en-US" altLang="zh-CN" sz="1100" b="1" u="none" strike="noStrike" dirty="0">
                          <a:solidFill>
                            <a:schemeClr val="accent1">
                              <a:lumMod val="60000"/>
                              <a:lumOff val="40000"/>
                            </a:schemeClr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80/B</a:t>
                      </a:r>
                      <a:r>
                        <a:rPr lang="zh-CN" altLang="en-US" sz="1100" b="1" u="none" strike="noStrike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）</a:t>
                      </a:r>
                      <a:endParaRPr lang="zh-CN" altLang="en-US" sz="1100" b="1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71755" algn="l" fontAlgn="ctr"/>
                      <a:r>
                        <a:rPr lang="zh-CN" altLang="en-US" sz="900" u="none" strike="noStrike" kern="1200" dirty="0"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开发经验</a:t>
                      </a:r>
                      <a:endParaRPr lang="zh-CN" altLang="en-US" sz="900" u="none" strike="noStrike" kern="1200" dirty="0"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900" u="none" strike="noStrike" kern="1200" dirty="0">
                          <a:solidFill>
                            <a:srgbClr val="FF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自评</a:t>
                      </a:r>
                      <a:endParaRPr lang="zh-CN" altLang="en-US" sz="900" u="none" strike="noStrike" kern="1200" dirty="0">
                        <a:solidFill>
                          <a:srgbClr val="FF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 marL="9525" marR="9525" marT="9525" marB="0" anchor="ctr">
                    <a:solidFill>
                      <a:srgbClr val="FFFF00"/>
                    </a:solidFill>
                  </a:tcPr>
                </a:tc>
              </a:tr>
              <a:tr h="444063">
                <a:tc vMerge="1">
                  <a:tcPr/>
                </a:tc>
                <a:tc>
                  <a:txBody>
                    <a:bodyPr/>
                    <a:lstStyle/>
                    <a:p>
                      <a:pPr marL="71755" algn="l" fontAlgn="ctr"/>
                      <a:r>
                        <a:rPr lang="zh-CN" altLang="en-US" sz="900" u="none" strike="noStrike" kern="1200" dirty="0"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实验验证能力</a:t>
                      </a:r>
                      <a:endParaRPr lang="zh-CN" altLang="en-US" sz="900" u="none" strike="noStrike" kern="1200" dirty="0"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kumimoji="0" lang="zh-CN" altLang="en-US" sz="9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自评</a:t>
                      </a:r>
                      <a:endParaRPr kumimoji="0" lang="zh-CN" altLang="en-US" sz="9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uLnTx/>
                        <a:uFillTx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 marL="9525" marR="9525" marT="9525" marB="0" anchor="ctr">
                    <a:solidFill>
                      <a:srgbClr val="FFFF00"/>
                    </a:solidFill>
                  </a:tcPr>
                </a:tc>
              </a:tr>
              <a:tr h="298922">
                <a:tc vMerge="1">
                  <a:tcPr/>
                </a:tc>
                <a:tc>
                  <a:txBody>
                    <a:bodyPr/>
                    <a:lstStyle/>
                    <a:p>
                      <a:pPr marL="71755" algn="l" fontAlgn="ctr"/>
                      <a:r>
                        <a:rPr lang="zh-CN" altLang="en-US" sz="900" u="none" strike="noStrike" kern="1200" dirty="0"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问题管理和规避</a:t>
                      </a:r>
                      <a:endParaRPr lang="zh-CN" altLang="en-US" sz="900" u="none" strike="noStrike" kern="1200" dirty="0"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kumimoji="0" lang="zh-CN" altLang="en-US" sz="9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自评</a:t>
                      </a:r>
                      <a:endParaRPr kumimoji="0" lang="zh-CN" altLang="en-US" sz="9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uLnTx/>
                        <a:uFillTx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 marL="9525" marR="9525" marT="9525" marB="0" anchor="ctr">
                    <a:solidFill>
                      <a:srgbClr val="FFFF00"/>
                    </a:solidFill>
                  </a:tcPr>
                </a:tc>
              </a:tr>
              <a:tr h="256459">
                <a:tc vMerge="1">
                  <a:tcPr/>
                </a:tc>
                <a:tc>
                  <a:txBody>
                    <a:bodyPr/>
                    <a:lstStyle/>
                    <a:p>
                      <a:pPr marL="71755" algn="l" fontAlgn="ctr"/>
                      <a:r>
                        <a:rPr lang="zh-CN" altLang="en-US" sz="900" u="none" strike="noStrike" kern="1200" dirty="0"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研发资源及投资</a:t>
                      </a:r>
                      <a:endParaRPr lang="zh-CN" altLang="en-US" sz="900" u="none" strike="noStrike" kern="1200" dirty="0"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kumimoji="0" lang="zh-CN" altLang="en-US" sz="9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自评</a:t>
                      </a:r>
                      <a:endParaRPr kumimoji="0" lang="zh-CN" altLang="en-US" sz="9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uLnTx/>
                        <a:uFillTx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 marL="9525" marR="9525" marT="9525" marB="0" anchor="ctr">
                    <a:solidFill>
                      <a:srgbClr val="FFFF00"/>
                    </a:solidFill>
                  </a:tcPr>
                </a:tc>
              </a:tr>
              <a:tr h="246476">
                <a:tc vMerge="1">
                  <a:tcPr/>
                </a:tc>
                <a:tc>
                  <a:txBody>
                    <a:bodyPr/>
                    <a:lstStyle/>
                    <a:p>
                      <a:pPr marL="71755" algn="l" fontAlgn="ctr"/>
                      <a:r>
                        <a:rPr lang="en-US" sz="900" u="none" strike="noStrike" kern="1200" dirty="0"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R&amp;D QCD</a:t>
                      </a:r>
                      <a:r>
                        <a:rPr lang="zh-CN" altLang="en-US" sz="900" u="none" strike="noStrike" kern="1200" dirty="0"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研发目标管理</a:t>
                      </a:r>
                      <a:endParaRPr lang="zh-CN" altLang="en-US" sz="900" u="none" strike="noStrike" kern="1200" dirty="0"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kumimoji="0" lang="zh-CN" altLang="en-US" sz="9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自评</a:t>
                      </a:r>
                      <a:endParaRPr kumimoji="0" lang="zh-CN" altLang="en-US" sz="9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uLnTx/>
                        <a:uFillTx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 marL="9525" marR="9525" marT="9525" marB="0" anchor="ctr">
                    <a:solidFill>
                      <a:srgbClr val="FFFF00"/>
                    </a:solidFill>
                  </a:tcPr>
                </a:tc>
              </a:tr>
              <a:tr h="298922">
                <a:tc rowSpan="5"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1100" u="none" strike="noStrike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生产制造能力</a:t>
                      </a:r>
                      <a:r>
                        <a:rPr lang="zh-CN" altLang="en-US" sz="1100" b="1" u="none" strike="noStrike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（</a:t>
                      </a:r>
                      <a:r>
                        <a:rPr lang="en-US" altLang="zh-CN" sz="1100" b="1" u="none" strike="noStrike" dirty="0">
                          <a:solidFill>
                            <a:schemeClr val="accent1">
                              <a:lumMod val="60000"/>
                              <a:lumOff val="40000"/>
                            </a:schemeClr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80/B</a:t>
                      </a:r>
                      <a:r>
                        <a:rPr lang="zh-CN" altLang="en-US" sz="1100" b="1" u="none" strike="noStrike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）</a:t>
                      </a:r>
                      <a:endParaRPr lang="zh-CN" altLang="en-US" sz="1100" b="1" u="none" strike="noStrike" dirty="0"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  <a:p>
                      <a:pPr algn="ctr" fontAlgn="ctr"/>
                      <a:endParaRPr lang="zh-CN" alt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71755" algn="l" fontAlgn="ctr"/>
                      <a:r>
                        <a:rPr lang="zh-CN" altLang="en-US" sz="900" u="none" strike="noStrike" kern="1200" dirty="0"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标准化作业</a:t>
                      </a:r>
                      <a:endParaRPr lang="zh-CN" altLang="en-US" sz="900" u="none" strike="noStrike" kern="1200" dirty="0"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kumimoji="0" lang="zh-CN" altLang="en-US" sz="9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自评</a:t>
                      </a:r>
                      <a:endParaRPr kumimoji="0" lang="zh-CN" altLang="en-US" sz="9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uLnTx/>
                        <a:uFillTx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 marL="9525" marR="9525" marT="9525" marB="0" anchor="ctr">
                    <a:solidFill>
                      <a:srgbClr val="FFFF00"/>
                    </a:solidFill>
                  </a:tcPr>
                </a:tc>
              </a:tr>
              <a:tr h="298922">
                <a:tc vMerge="1">
                  <a:tcPr/>
                </a:tc>
                <a:tc>
                  <a:txBody>
                    <a:bodyPr/>
                    <a:lstStyle/>
                    <a:p>
                      <a:pPr marL="71755" algn="l" fontAlgn="ctr"/>
                      <a:r>
                        <a:rPr lang="zh-CN" altLang="en-US" sz="900" u="none" strike="noStrike" kern="1200" dirty="0"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制造过程能力</a:t>
                      </a:r>
                      <a:endParaRPr lang="zh-CN" altLang="en-US" sz="900" u="none" strike="noStrike" kern="1200" dirty="0"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kumimoji="0" lang="zh-CN" altLang="en-US" sz="9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自评</a:t>
                      </a:r>
                      <a:endParaRPr kumimoji="0" lang="zh-CN" altLang="en-US" sz="9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uLnTx/>
                        <a:uFillTx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 marL="9525" marR="9525" marT="9525" marB="0" anchor="ctr">
                    <a:solidFill>
                      <a:srgbClr val="FFFF00"/>
                    </a:solidFill>
                  </a:tcPr>
                </a:tc>
              </a:tr>
              <a:tr h="419230">
                <a:tc vMerge="1">
                  <a:tcPr/>
                </a:tc>
                <a:tc>
                  <a:txBody>
                    <a:bodyPr/>
                    <a:lstStyle/>
                    <a:p>
                      <a:pPr marL="71755" algn="l" fontAlgn="ctr"/>
                      <a:r>
                        <a:rPr lang="zh-CN" altLang="en-US" sz="900" u="none" strike="noStrike" kern="1200" dirty="0"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产能评估</a:t>
                      </a:r>
                      <a:endParaRPr lang="zh-CN" altLang="en-US" sz="900" u="none" strike="noStrike" kern="1200" dirty="0"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kumimoji="0" lang="zh-CN" altLang="en-US" sz="9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自评</a:t>
                      </a:r>
                      <a:endParaRPr kumimoji="0" lang="zh-CN" altLang="en-US" sz="9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uLnTx/>
                        <a:uFillTx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 marL="9525" marR="9525" marT="9525" marB="0" anchor="ctr">
                    <a:solidFill>
                      <a:srgbClr val="FFFF00"/>
                    </a:solidFill>
                  </a:tcPr>
                </a:tc>
              </a:tr>
              <a:tr h="153781">
                <a:tc vMerge="1">
                  <a:tcPr/>
                </a:tc>
                <a:tc>
                  <a:txBody>
                    <a:bodyPr/>
                    <a:lstStyle/>
                    <a:p>
                      <a:pPr marL="71755" algn="l" fontAlgn="ctr"/>
                      <a:r>
                        <a:rPr lang="zh-CN" altLang="en-US" sz="900" u="none" strike="noStrike" kern="1200" dirty="0"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维护保养</a:t>
                      </a:r>
                      <a:endParaRPr lang="zh-CN" altLang="en-US" sz="900" u="none" strike="noStrike" kern="1200" dirty="0"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kumimoji="0" lang="zh-CN" altLang="en-US" sz="9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自评</a:t>
                      </a:r>
                      <a:endParaRPr kumimoji="0" lang="zh-CN" altLang="en-US" sz="9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uLnTx/>
                        <a:uFillTx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 marL="9525" marR="9525" marT="9525" marB="0" anchor="ctr">
                    <a:solidFill>
                      <a:srgbClr val="FFFF00"/>
                    </a:solidFill>
                  </a:tcPr>
                </a:tc>
              </a:tr>
              <a:tr h="298922">
                <a:tc vMerge="1">
                  <a:tcPr/>
                </a:tc>
                <a:tc>
                  <a:txBody>
                    <a:bodyPr/>
                    <a:lstStyle/>
                    <a:p>
                      <a:pPr marL="71755" algn="l" fontAlgn="ctr"/>
                      <a:r>
                        <a:rPr lang="zh-CN" altLang="en-US" sz="900" u="none" strike="noStrike" kern="1200" dirty="0"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标识及可追溯性</a:t>
                      </a:r>
                      <a:r>
                        <a:rPr lang="en-US" altLang="zh-CN" sz="900" u="none" strike="noStrike" kern="1200" dirty="0"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/</a:t>
                      </a:r>
                      <a:r>
                        <a:rPr lang="zh-CN" altLang="en-US" sz="900" u="none" strike="noStrike" kern="1200" dirty="0"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包装</a:t>
                      </a:r>
                      <a:r>
                        <a:rPr lang="en-US" altLang="zh-CN" sz="900" u="none" strike="noStrike" kern="1200" dirty="0"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/</a:t>
                      </a:r>
                      <a:r>
                        <a:rPr lang="zh-CN" altLang="en-US" sz="900" u="none" strike="noStrike" kern="1200" dirty="0"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仓储</a:t>
                      </a:r>
                      <a:r>
                        <a:rPr lang="en-US" altLang="zh-CN" sz="900" u="none" strike="noStrike" kern="1200" dirty="0"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/</a:t>
                      </a:r>
                      <a:r>
                        <a:rPr lang="zh-CN" altLang="en-US" sz="900" u="none" strike="noStrike" kern="1200" dirty="0"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物流</a:t>
                      </a:r>
                      <a:endParaRPr lang="zh-CN" altLang="en-US" sz="900" u="none" strike="noStrike" kern="1200" dirty="0"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kumimoji="0" lang="zh-CN" altLang="en-US" sz="9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自评</a:t>
                      </a:r>
                      <a:endParaRPr kumimoji="0" lang="zh-CN" altLang="en-US" sz="9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uLnTx/>
                        <a:uFillTx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 marL="9525" marR="9525" marT="9525" marB="0" anchor="ctr">
                    <a:solidFill>
                      <a:srgbClr val="FFFF00"/>
                    </a:solidFill>
                  </a:tcPr>
                </a:tc>
              </a:tr>
              <a:tr h="298922">
                <a:tc rowSpan="6"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1100" u="none" strike="noStrike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质量管控能力</a:t>
                      </a:r>
                      <a:r>
                        <a:rPr lang="zh-CN" altLang="en-US" sz="1100" b="1" u="none" strike="noStrike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（</a:t>
                      </a:r>
                      <a:r>
                        <a:rPr lang="en-US" altLang="zh-CN" sz="1100" b="1" u="none" strike="noStrike" dirty="0">
                          <a:solidFill>
                            <a:schemeClr val="accent1">
                              <a:lumMod val="60000"/>
                              <a:lumOff val="40000"/>
                            </a:schemeClr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80/B</a:t>
                      </a:r>
                      <a:r>
                        <a:rPr lang="zh-CN" altLang="en-US" sz="1100" b="1" u="none" strike="noStrike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）</a:t>
                      </a:r>
                      <a:endParaRPr lang="zh-CN" altLang="en-US" sz="1100" b="1" u="none" strike="noStrike" dirty="0"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  <a:p>
                      <a:pPr algn="ctr" fontAlgn="ctr"/>
                      <a:endParaRPr lang="zh-CN" alt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71755" algn="l" fontAlgn="ctr"/>
                      <a:r>
                        <a:rPr lang="zh-CN" altLang="en-US" sz="900" u="none" strike="noStrike" kern="1200" dirty="0"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变更管理</a:t>
                      </a:r>
                      <a:endParaRPr lang="zh-CN" altLang="en-US" sz="900" u="none" strike="noStrike" kern="1200" dirty="0"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kumimoji="0" lang="zh-CN" altLang="en-US" sz="9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自评</a:t>
                      </a:r>
                      <a:endParaRPr kumimoji="0" lang="zh-CN" altLang="en-US" sz="9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uLnTx/>
                        <a:uFillTx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 marL="9525" marR="9525" marT="9525" marB="0" anchor="ctr">
                    <a:solidFill>
                      <a:srgbClr val="FFFF00"/>
                    </a:solidFill>
                  </a:tcPr>
                </a:tc>
              </a:tr>
              <a:tr h="298922">
                <a:tc vMerge="1">
                  <a:tcPr/>
                </a:tc>
                <a:tc>
                  <a:txBody>
                    <a:bodyPr/>
                    <a:lstStyle/>
                    <a:p>
                      <a:pPr marL="71755" algn="l" fontAlgn="ctr"/>
                      <a:r>
                        <a:rPr lang="zh-CN" altLang="en-US" sz="900" u="none" strike="noStrike" kern="1200" dirty="0"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分供方管理</a:t>
                      </a:r>
                      <a:endParaRPr lang="zh-CN" altLang="en-US" sz="900" u="none" strike="noStrike" kern="1200" dirty="0"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kumimoji="0" lang="zh-CN" altLang="en-US" sz="9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自评</a:t>
                      </a:r>
                      <a:endParaRPr kumimoji="0" lang="zh-CN" altLang="en-US" sz="9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uLnTx/>
                        <a:uFillTx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 marL="9525" marR="9525" marT="9525" marB="0" anchor="ctr">
                    <a:solidFill>
                      <a:srgbClr val="FFFF00"/>
                    </a:solidFill>
                  </a:tcPr>
                </a:tc>
              </a:tr>
              <a:tr h="444063">
                <a:tc vMerge="1">
                  <a:tcPr/>
                </a:tc>
                <a:tc>
                  <a:txBody>
                    <a:bodyPr/>
                    <a:lstStyle/>
                    <a:p>
                      <a:pPr marL="71755" algn="l" fontAlgn="ctr"/>
                      <a:r>
                        <a:rPr lang="zh-CN" altLang="en-US" sz="900" u="none" strike="noStrike" kern="1200" dirty="0"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来料质量控制</a:t>
                      </a:r>
                      <a:endParaRPr lang="zh-CN" altLang="en-US" sz="900" u="none" strike="noStrike" kern="1200" dirty="0"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kumimoji="0" lang="zh-CN" altLang="en-US" sz="9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自评</a:t>
                      </a:r>
                      <a:endParaRPr kumimoji="0" lang="zh-CN" altLang="en-US" sz="9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uLnTx/>
                        <a:uFillTx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 marL="9525" marR="9525" marT="9525" marB="0" anchor="ctr">
                    <a:solidFill>
                      <a:srgbClr val="FFFF00"/>
                    </a:solidFill>
                  </a:tcPr>
                </a:tc>
              </a:tr>
              <a:tr h="444063">
                <a:tc vMerge="1">
                  <a:tcPr/>
                </a:tc>
                <a:tc>
                  <a:txBody>
                    <a:bodyPr/>
                    <a:lstStyle/>
                    <a:p>
                      <a:pPr marL="71755" algn="l" fontAlgn="ctr"/>
                      <a:r>
                        <a:rPr lang="zh-CN" altLang="en-US" sz="900" u="none" strike="noStrike" kern="1200" dirty="0"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不合格品控制</a:t>
                      </a:r>
                      <a:endParaRPr lang="zh-CN" altLang="en-US" sz="900" u="none" strike="noStrike" kern="1200" dirty="0"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kumimoji="0" lang="zh-CN" altLang="en-US" sz="9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自评</a:t>
                      </a:r>
                      <a:endParaRPr kumimoji="0" lang="zh-CN" altLang="en-US" sz="9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uLnTx/>
                        <a:uFillTx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 marL="9525" marR="9525" marT="9525" marB="0" anchor="ctr">
                    <a:solidFill>
                      <a:srgbClr val="FFFF00"/>
                    </a:solidFill>
                  </a:tcPr>
                </a:tc>
              </a:tr>
              <a:tr h="298922">
                <a:tc vMerge="1">
                  <a:tcPr/>
                </a:tc>
                <a:tc>
                  <a:txBody>
                    <a:bodyPr/>
                    <a:lstStyle/>
                    <a:p>
                      <a:pPr marL="71755" algn="l" fontAlgn="ctr"/>
                      <a:r>
                        <a:rPr lang="zh-CN" altLang="en-US" sz="900" u="none" strike="noStrike" kern="1200" dirty="0"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分层审核</a:t>
                      </a:r>
                      <a:endParaRPr lang="zh-CN" altLang="en-US" sz="900" u="none" strike="noStrike" kern="1200" dirty="0"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kumimoji="0" lang="zh-CN" altLang="en-US" sz="9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自评</a:t>
                      </a:r>
                      <a:endParaRPr kumimoji="0" lang="zh-CN" altLang="en-US" sz="9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uLnTx/>
                        <a:uFillTx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 marL="9525" marR="9525" marT="9525" marB="0" anchor="ctr">
                    <a:solidFill>
                      <a:srgbClr val="FFFF00"/>
                    </a:solidFill>
                  </a:tcPr>
                </a:tc>
              </a:tr>
              <a:tr h="298922">
                <a:tc vMerge="1">
                  <a:tcPr/>
                </a:tc>
                <a:tc>
                  <a:txBody>
                    <a:bodyPr/>
                    <a:lstStyle/>
                    <a:p>
                      <a:pPr marL="71755" algn="l" fontAlgn="ctr"/>
                      <a:r>
                        <a:rPr lang="en-US" altLang="zh-CN" sz="900" u="none" strike="noStrike" kern="1200" dirty="0"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FMEAS/</a:t>
                      </a:r>
                      <a:r>
                        <a:rPr lang="zh-CN" altLang="en-US" sz="900" u="none" strike="noStrike" kern="1200" dirty="0"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过程流程图</a:t>
                      </a:r>
                      <a:r>
                        <a:rPr lang="en-US" altLang="zh-CN" sz="900" u="none" strike="noStrike" kern="1200" dirty="0"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/</a:t>
                      </a:r>
                      <a:r>
                        <a:rPr lang="zh-CN" altLang="en-US" sz="900" u="none" strike="noStrike" kern="1200" dirty="0"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控制计划</a:t>
                      </a:r>
                      <a:endParaRPr lang="zh-CN" altLang="en-US" sz="900" u="none" strike="noStrike" kern="1200" dirty="0"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kumimoji="0" lang="zh-CN" altLang="en-US" sz="9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自评</a:t>
                      </a:r>
                      <a:endParaRPr kumimoji="0" lang="zh-CN" altLang="en-US" sz="9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uLnTx/>
                        <a:uFillTx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 marL="9525" marR="9525" marT="9525" marB="0" anchor="ctr">
                    <a:solidFill>
                      <a:srgbClr val="FFFF00"/>
                    </a:solidFill>
                  </a:tcPr>
                </a:tc>
              </a:tr>
            </a:tbl>
          </a:graphicData>
        </a:graphic>
      </p:graphicFrame>
      <p:sp>
        <p:nvSpPr>
          <p:cNvPr id="3" name="矩形 2"/>
          <p:cNvSpPr/>
          <p:nvPr/>
        </p:nvSpPr>
        <p:spPr bwMode="auto">
          <a:xfrm>
            <a:off x="4176216" y="1871935"/>
            <a:ext cx="1224136" cy="307777"/>
          </a:xfrm>
          <a:prstGeom prst="rect">
            <a:avLst/>
          </a:prstGeom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wrap="square" rtlCol="0" anchor="ctr">
            <a:spAutoFit/>
          </a:bodyPr>
          <a:lstStyle/>
          <a:p>
            <a:pPr algn="ctr" fontAlgn="ctr"/>
            <a:r>
              <a:rPr kumimoji="1" lang="en-US" altLang="zh-CN" sz="1400" b="1" dirty="0">
                <a:latin typeface="微软雅黑" panose="020B0503020204020204" pitchFamily="34" charset="-122"/>
                <a:ea typeface="微软雅黑" panose="020B0503020204020204" pitchFamily="34" charset="-122"/>
                <a:cs typeface="Adobe 楷体 Std R"/>
              </a:rPr>
              <a:t>PD</a:t>
            </a:r>
            <a:endParaRPr kumimoji="1" lang="zh-CN" altLang="en-US" sz="1400" b="1" dirty="0">
              <a:latin typeface="微软雅黑" panose="020B0503020204020204" pitchFamily="34" charset="-122"/>
              <a:ea typeface="微软雅黑" panose="020B0503020204020204" pitchFamily="34" charset="-122"/>
              <a:cs typeface="Adobe 楷体 Std R"/>
            </a:endParaRPr>
          </a:p>
        </p:txBody>
      </p:sp>
      <p:sp>
        <p:nvSpPr>
          <p:cNvPr id="4" name="矩形 3"/>
          <p:cNvSpPr/>
          <p:nvPr/>
        </p:nvSpPr>
        <p:spPr bwMode="auto">
          <a:xfrm>
            <a:off x="4032200" y="3240087"/>
            <a:ext cx="1224136" cy="307777"/>
          </a:xfrm>
          <a:prstGeom prst="rect">
            <a:avLst/>
          </a:prstGeom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wrap="square" rtlCol="0" anchor="ctr">
            <a:spAutoFit/>
          </a:bodyPr>
          <a:lstStyle/>
          <a:p>
            <a:pPr algn="ctr" fontAlgn="ctr"/>
            <a:r>
              <a:rPr kumimoji="1" lang="en-US" altLang="zh-CN" sz="1400" b="1" dirty="0">
                <a:latin typeface="微软雅黑" panose="020B0503020204020204" pitchFamily="34" charset="-122"/>
                <a:ea typeface="微软雅黑" panose="020B0503020204020204" pitchFamily="34" charset="-122"/>
                <a:cs typeface="Adobe 楷体 Std R"/>
              </a:rPr>
              <a:t>TPM</a:t>
            </a:r>
            <a:endParaRPr kumimoji="1" lang="zh-CN" altLang="en-US" sz="1400" b="1" dirty="0">
              <a:latin typeface="微软雅黑" panose="020B0503020204020204" pitchFamily="34" charset="-122"/>
              <a:ea typeface="微软雅黑" panose="020B0503020204020204" pitchFamily="34" charset="-122"/>
              <a:cs typeface="Adobe 楷体 Std R"/>
            </a:endParaRPr>
          </a:p>
        </p:txBody>
      </p:sp>
      <p:sp>
        <p:nvSpPr>
          <p:cNvPr id="5" name="矩形 4"/>
          <p:cNvSpPr/>
          <p:nvPr/>
        </p:nvSpPr>
        <p:spPr bwMode="auto">
          <a:xfrm>
            <a:off x="3672160" y="4687270"/>
            <a:ext cx="1224136" cy="307777"/>
          </a:xfrm>
          <a:prstGeom prst="rect">
            <a:avLst/>
          </a:prstGeom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wrap="square" rtlCol="0" anchor="ctr">
            <a:spAutoFit/>
          </a:bodyPr>
          <a:lstStyle/>
          <a:p>
            <a:pPr algn="ctr" fontAlgn="ctr"/>
            <a:r>
              <a:rPr kumimoji="1" lang="en-US" altLang="zh-CN" sz="1400" b="1" dirty="0">
                <a:latin typeface="微软雅黑" panose="020B0503020204020204" pitchFamily="34" charset="-122"/>
                <a:ea typeface="微软雅黑" panose="020B0503020204020204" pitchFamily="34" charset="-122"/>
                <a:cs typeface="Adobe 楷体 Std R"/>
              </a:rPr>
              <a:t>SQE</a:t>
            </a:r>
            <a:endParaRPr kumimoji="1" lang="zh-CN" altLang="en-US" sz="1400" b="1" dirty="0">
              <a:latin typeface="微软雅黑" panose="020B0503020204020204" pitchFamily="34" charset="-122"/>
              <a:ea typeface="微软雅黑" panose="020B0503020204020204" pitchFamily="34" charset="-122"/>
              <a:cs typeface="Adobe 楷体 Std R"/>
            </a:endParaRPr>
          </a:p>
        </p:txBody>
      </p:sp>
      <p:sp>
        <p:nvSpPr>
          <p:cNvPr id="6" name="矩形 5"/>
          <p:cNvSpPr/>
          <p:nvPr/>
        </p:nvSpPr>
        <p:spPr bwMode="auto">
          <a:xfrm>
            <a:off x="3740576" y="5338433"/>
            <a:ext cx="1224136" cy="307777"/>
          </a:xfrm>
          <a:prstGeom prst="rect">
            <a:avLst/>
          </a:prstGeom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wrap="square" rtlCol="0" anchor="ctr">
            <a:spAutoFit/>
          </a:bodyPr>
          <a:lstStyle/>
          <a:p>
            <a:pPr algn="ctr" fontAlgn="ctr"/>
            <a:r>
              <a:rPr kumimoji="1" lang="en-US" altLang="zh-CN" sz="1400" b="1" dirty="0">
                <a:latin typeface="微软雅黑" panose="020B0503020204020204" pitchFamily="34" charset="-122"/>
                <a:ea typeface="微软雅黑" panose="020B0503020204020204" pitchFamily="34" charset="-122"/>
                <a:cs typeface="Adobe 楷体 Std R"/>
              </a:rPr>
              <a:t>Q</a:t>
            </a:r>
            <a:endParaRPr kumimoji="1" lang="zh-CN" altLang="en-US" sz="1400" b="1" dirty="0">
              <a:latin typeface="微软雅黑" panose="020B0503020204020204" pitchFamily="34" charset="-122"/>
              <a:ea typeface="微软雅黑" panose="020B0503020204020204" pitchFamily="34" charset="-122"/>
              <a:cs typeface="Adobe 楷体 Std R"/>
            </a:endParaRPr>
          </a:p>
        </p:txBody>
      </p:sp>
      <p:sp>
        <p:nvSpPr>
          <p:cNvPr id="7" name="右箭头 6"/>
          <p:cNvSpPr/>
          <p:nvPr/>
        </p:nvSpPr>
        <p:spPr bwMode="auto">
          <a:xfrm flipV="1">
            <a:off x="575816" y="2087959"/>
            <a:ext cx="3312368" cy="216024"/>
          </a:xfrm>
          <a:prstGeom prst="rightArrow">
            <a:avLst/>
          </a:prstGeom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wrap="square" rtlCol="0" anchor="ctr">
            <a:spAutoFit/>
          </a:bodyPr>
          <a:lstStyle/>
          <a:p>
            <a:pPr algn="ctr" fontAlgn="ctr"/>
            <a:endParaRPr kumimoji="1" lang="zh-CN" altLang="en-US" sz="1400" b="1" dirty="0">
              <a:latin typeface="微软雅黑" panose="020B0503020204020204" pitchFamily="34" charset="-122"/>
              <a:ea typeface="微软雅黑" panose="020B0503020204020204" pitchFamily="34" charset="-122"/>
              <a:cs typeface="Adobe 楷体 Std R"/>
            </a:endParaRPr>
          </a:p>
        </p:txBody>
      </p:sp>
      <p:sp>
        <p:nvSpPr>
          <p:cNvPr id="9" name="右箭头 8"/>
          <p:cNvSpPr/>
          <p:nvPr/>
        </p:nvSpPr>
        <p:spPr bwMode="auto">
          <a:xfrm rot="21200323" flipV="1">
            <a:off x="719832" y="3512344"/>
            <a:ext cx="3312368" cy="216024"/>
          </a:xfrm>
          <a:prstGeom prst="rightArrow">
            <a:avLst/>
          </a:prstGeom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wrap="square" rtlCol="0" anchor="ctr">
            <a:spAutoFit/>
          </a:bodyPr>
          <a:lstStyle/>
          <a:p>
            <a:pPr algn="ctr" fontAlgn="ctr"/>
            <a:endParaRPr kumimoji="1" lang="zh-CN" altLang="en-US" sz="1400" b="1" dirty="0">
              <a:latin typeface="微软雅黑" panose="020B0503020204020204" pitchFamily="34" charset="-122"/>
              <a:ea typeface="微软雅黑" panose="020B0503020204020204" pitchFamily="34" charset="-122"/>
              <a:cs typeface="Adobe 楷体 Std R"/>
            </a:endParaRPr>
          </a:p>
        </p:txBody>
      </p:sp>
      <p:sp>
        <p:nvSpPr>
          <p:cNvPr id="10" name="矩形 9"/>
          <p:cNvSpPr/>
          <p:nvPr/>
        </p:nvSpPr>
        <p:spPr bwMode="auto">
          <a:xfrm>
            <a:off x="3564148" y="4226569"/>
            <a:ext cx="2772308" cy="307777"/>
          </a:xfrm>
          <a:prstGeom prst="rect">
            <a:avLst/>
          </a:prstGeom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wrap="square" rtlCol="0" anchor="ctr">
            <a:spAutoFit/>
          </a:bodyPr>
          <a:lstStyle/>
          <a:p>
            <a:pPr algn="ctr" fontAlgn="ctr"/>
            <a:r>
              <a:rPr kumimoji="1" lang="en-US" altLang="zh-CN" sz="1400" b="1" dirty="0">
                <a:latin typeface="微软雅黑" panose="020B0503020204020204" pitchFamily="34" charset="-122"/>
                <a:ea typeface="微软雅黑" panose="020B0503020204020204" pitchFamily="34" charset="-122"/>
                <a:cs typeface="Adobe 楷体 Std R"/>
              </a:rPr>
              <a:t>PD&amp;TPM&amp;</a:t>
            </a:r>
            <a:r>
              <a:rPr kumimoji="1" lang="zh-CN" altLang="en-US" sz="1400" b="1" dirty="0">
                <a:latin typeface="微软雅黑" panose="020B0503020204020204" pitchFamily="34" charset="-122"/>
                <a:ea typeface="微软雅黑" panose="020B0503020204020204" pitchFamily="34" charset="-122"/>
                <a:cs typeface="Adobe 楷体 Std R"/>
              </a:rPr>
              <a:t>零件</a:t>
            </a:r>
            <a:r>
              <a:rPr kumimoji="1" lang="en-US" altLang="zh-CN" sz="1400" b="1" dirty="0">
                <a:latin typeface="微软雅黑" panose="020B0503020204020204" pitchFamily="34" charset="-122"/>
                <a:ea typeface="微软雅黑" panose="020B0503020204020204" pitchFamily="34" charset="-122"/>
                <a:cs typeface="Adobe 楷体 Std R"/>
              </a:rPr>
              <a:t>&amp;</a:t>
            </a:r>
            <a:r>
              <a:rPr kumimoji="1" lang="zh-CN" altLang="en-US" sz="1400" b="1" dirty="0">
                <a:latin typeface="微软雅黑" panose="020B0503020204020204" pitchFamily="34" charset="-122"/>
                <a:ea typeface="微软雅黑" panose="020B0503020204020204" pitchFamily="34" charset="-122"/>
                <a:cs typeface="Adobe 楷体 Std R"/>
              </a:rPr>
              <a:t>品管</a:t>
            </a:r>
            <a:endParaRPr kumimoji="1" lang="zh-CN" altLang="en-US" sz="1400" b="1" dirty="0">
              <a:latin typeface="微软雅黑" panose="020B0503020204020204" pitchFamily="34" charset="-122"/>
              <a:ea typeface="微软雅黑" panose="020B0503020204020204" pitchFamily="34" charset="-122"/>
              <a:cs typeface="Adobe 楷体 Std R"/>
            </a:endParaRPr>
          </a:p>
        </p:txBody>
      </p:sp>
      <p:sp>
        <p:nvSpPr>
          <p:cNvPr id="12" name="矩形 11"/>
          <p:cNvSpPr/>
          <p:nvPr/>
        </p:nvSpPr>
        <p:spPr bwMode="auto">
          <a:xfrm>
            <a:off x="3726166" y="6028172"/>
            <a:ext cx="2250250" cy="307777"/>
          </a:xfrm>
          <a:prstGeom prst="rect">
            <a:avLst/>
          </a:prstGeom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wrap="square" rtlCol="0" anchor="ctr">
            <a:spAutoFit/>
          </a:bodyPr>
          <a:lstStyle/>
          <a:p>
            <a:pPr algn="ctr" fontAlgn="ctr"/>
            <a:r>
              <a:rPr kumimoji="1" lang="en-US" altLang="zh-CN" sz="1400" b="1" dirty="0">
                <a:latin typeface="微软雅黑" panose="020B0503020204020204" pitchFamily="34" charset="-122"/>
                <a:ea typeface="微软雅黑" panose="020B0503020204020204" pitchFamily="34" charset="-122"/>
                <a:cs typeface="Adobe 楷体 Std R"/>
              </a:rPr>
              <a:t>PD&amp;TPM&amp;Q</a:t>
            </a:r>
            <a:endParaRPr kumimoji="1" lang="zh-CN" altLang="en-US" sz="1400" b="1" dirty="0">
              <a:latin typeface="微软雅黑" panose="020B0503020204020204" pitchFamily="34" charset="-122"/>
              <a:ea typeface="微软雅黑" panose="020B0503020204020204" pitchFamily="34" charset="-122"/>
              <a:cs typeface="Adobe 楷体 Std R"/>
            </a:endParaRPr>
          </a:p>
        </p:txBody>
      </p:sp>
    </p:spTree>
  </p:cSld>
  <p:clrMapOvr>
    <a:masterClrMapping/>
  </p:clrMapOvr>
  <p:transition spd="med"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表格 12"/>
          <p:cNvGraphicFramePr>
            <a:graphicFrameLocks noGrp="1"/>
          </p:cNvGraphicFramePr>
          <p:nvPr/>
        </p:nvGraphicFramePr>
        <p:xfrm>
          <a:off x="71760" y="791815"/>
          <a:ext cx="9937104" cy="353639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08112"/>
                <a:gridCol w="7200800"/>
                <a:gridCol w="1728192"/>
              </a:tblGrid>
              <a:tr h="235834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0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评审项目</a:t>
                      </a:r>
                      <a:endParaRPr lang="zh-CN" altLang="en-US" sz="1000" dirty="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lnL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0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评语及建议事项</a:t>
                      </a:r>
                      <a:endParaRPr lang="zh-CN" altLang="en-US" sz="1000" dirty="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lnL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0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评价等级：</a:t>
                      </a:r>
                      <a:r>
                        <a:rPr lang="en-US" altLang="zh-CN" sz="100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XXX</a:t>
                      </a:r>
                      <a:endParaRPr lang="zh-CN" altLang="en-US" sz="1000" dirty="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lnL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3292558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60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总评</a:t>
                      </a:r>
                      <a:endParaRPr lang="zh-CN" altLang="en-US" sz="1600" dirty="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lnL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lang="zh-CN" altLang="en-US" sz="900" kern="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Arial" panose="020B0604020202020204" pitchFamily="34" charset="0"/>
                        </a:rPr>
                        <a:t>公司介绍：</a:t>
                      </a:r>
                      <a:endParaRPr lang="en-US" altLang="zh-CN" sz="900" kern="0" dirty="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Arial" panose="020B0604020202020204" pitchFamily="34" charset="0"/>
                      </a:endParaRPr>
                    </a:p>
                    <a:p>
                      <a:pPr>
                        <a:lnSpc>
                          <a:spcPct val="150000"/>
                        </a:lnSpc>
                      </a:pPr>
                      <a:endParaRPr lang="en-US" altLang="zh-CN" sz="900" kern="0" dirty="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Arial" panose="020B0604020202020204" pitchFamily="34" charset="0"/>
                      </a:endParaRPr>
                    </a:p>
                    <a:p>
                      <a:pPr>
                        <a:lnSpc>
                          <a:spcPct val="150000"/>
                        </a:lnSpc>
                      </a:pPr>
                      <a:endParaRPr lang="en-US" altLang="zh-CN" sz="900" kern="1200" dirty="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  <a:p>
                      <a:pPr>
                        <a:lnSpc>
                          <a:spcPct val="150000"/>
                        </a:lnSpc>
                      </a:pPr>
                      <a:r>
                        <a:rPr lang="zh-CN" altLang="en-US" sz="900" kern="120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主要优势：</a:t>
                      </a:r>
                      <a:endParaRPr lang="en-US" altLang="zh-CN" sz="900" kern="1200" dirty="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  <a:p>
                      <a:pPr>
                        <a:lnSpc>
                          <a:spcPct val="150000"/>
                        </a:lnSpc>
                      </a:pPr>
                      <a:r>
                        <a:rPr lang="en-US" altLang="zh-CN" sz="900" kern="120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1.</a:t>
                      </a:r>
                      <a:endParaRPr lang="en-US" altLang="zh-CN" sz="900" kern="1200" dirty="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  <a:p>
                      <a:pPr>
                        <a:lnSpc>
                          <a:spcPct val="150000"/>
                        </a:lnSpc>
                      </a:pPr>
                      <a:r>
                        <a:rPr lang="en-US" altLang="zh-CN" sz="900" kern="120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2.</a:t>
                      </a:r>
                      <a:endParaRPr lang="zh-CN" altLang="en-US" sz="900" kern="1200" dirty="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  <a:p>
                      <a:pPr>
                        <a:lnSpc>
                          <a:spcPct val="150000"/>
                        </a:lnSpc>
                      </a:pPr>
                      <a:endParaRPr lang="en-US" altLang="zh-CN" sz="900" kern="1200" dirty="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  <a:p>
                      <a:pPr>
                        <a:lnSpc>
                          <a:spcPct val="150000"/>
                        </a:lnSpc>
                      </a:pPr>
                      <a:r>
                        <a:rPr lang="zh-CN" altLang="en-US" sz="900" kern="120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主要不足：</a:t>
                      </a:r>
                      <a:endParaRPr lang="en-US" altLang="zh-CN" sz="900" kern="1200" dirty="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  <a:p>
                      <a:pPr>
                        <a:lnSpc>
                          <a:spcPct val="150000"/>
                        </a:lnSpc>
                      </a:pPr>
                      <a:r>
                        <a:rPr lang="en-US" altLang="zh-CN" sz="900" kern="120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1.</a:t>
                      </a:r>
                      <a:endParaRPr lang="en-US" altLang="zh-CN" sz="900" kern="1200" dirty="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  <a:p>
                      <a:pPr>
                        <a:lnSpc>
                          <a:spcPct val="150000"/>
                        </a:lnSpc>
                      </a:pPr>
                      <a:r>
                        <a:rPr lang="en-US" altLang="zh-CN" sz="900" kern="120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2.</a:t>
                      </a:r>
                      <a:endParaRPr lang="en-US" altLang="zh-CN" sz="900" kern="1200" dirty="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  <a:p>
                      <a:pPr>
                        <a:lnSpc>
                          <a:spcPct val="150000"/>
                        </a:lnSpc>
                      </a:pPr>
                      <a:r>
                        <a:rPr lang="en-US" altLang="zh-CN" sz="900" kern="120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3.</a:t>
                      </a:r>
                      <a:endParaRPr lang="zh-CN" altLang="en-US" sz="900" kern="1200" dirty="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900" b="1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审核等级：</a:t>
                      </a:r>
                      <a:r>
                        <a:rPr lang="en-US" altLang="zh-CN" sz="900" b="1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XXX</a:t>
                      </a:r>
                      <a:r>
                        <a:rPr lang="zh-CN" altLang="en-US" sz="900" b="1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。</a:t>
                      </a:r>
                      <a:endParaRPr lang="zh-CN" altLang="en-US" sz="900" b="1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lnL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 hMerge="1">
                  <a:tcPr anchor="ctr"/>
                </a:tc>
              </a:tr>
            </a:tbl>
          </a:graphicData>
        </a:graphic>
      </p:graphicFrame>
      <p:sp>
        <p:nvSpPr>
          <p:cNvPr id="6" name="标题 1"/>
          <p:cNvSpPr/>
          <p:nvPr/>
        </p:nvSpPr>
        <p:spPr>
          <a:xfrm>
            <a:off x="6696497" y="143743"/>
            <a:ext cx="3161170" cy="40011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 rtlCol="0" anchor="ctr">
            <a:spAutoFit/>
          </a:bodyPr>
          <a:lstStyle/>
          <a:p>
            <a:pPr algn="r" fontAlgn="ctr"/>
            <a:r>
              <a:rPr lang="zh-CN" altLang="en-US" sz="2000" b="1" noProof="1">
                <a:latin typeface="微软雅黑" panose="020B0503020204020204" pitchFamily="34" charset="-122"/>
                <a:ea typeface="微软雅黑" panose="020B0503020204020204" pitchFamily="34" charset="-122"/>
                <a:cs typeface="Adobe 楷体 Std R"/>
                <a:sym typeface="宋体" panose="02010600030101010101" pitchFamily="2" charset="-122"/>
              </a:rPr>
              <a:t>四、供应商</a:t>
            </a:r>
            <a:r>
              <a:rPr lang="en-US" altLang="zh-CN" sz="2000" b="1" noProof="1">
                <a:latin typeface="微软雅黑" panose="020B0503020204020204" pitchFamily="34" charset="-122"/>
                <a:ea typeface="微软雅黑" panose="020B0503020204020204" pitchFamily="34" charset="-122"/>
                <a:cs typeface="Adobe 楷体 Std R"/>
                <a:sym typeface="宋体" panose="02010600030101010101" pitchFamily="2" charset="-122"/>
              </a:rPr>
              <a:t>3A</a:t>
            </a:r>
            <a:r>
              <a:rPr lang="zh-CN" altLang="en-US" sz="2000" b="1" noProof="1">
                <a:latin typeface="微软雅黑" panose="020B0503020204020204" pitchFamily="34" charset="-122"/>
                <a:ea typeface="微软雅黑" panose="020B0503020204020204" pitchFamily="34" charset="-122"/>
                <a:cs typeface="Adobe 楷体 Std R"/>
                <a:sym typeface="宋体" panose="02010600030101010101" pitchFamily="2" charset="-122"/>
              </a:rPr>
              <a:t>能力概述</a:t>
            </a:r>
            <a:endParaRPr lang="zh-CN" altLang="en-US" sz="2000" b="1" noProof="1">
              <a:latin typeface="微软雅黑" panose="020B0503020204020204" pitchFamily="34" charset="-122"/>
              <a:ea typeface="微软雅黑" panose="020B0503020204020204" pitchFamily="34" charset="-122"/>
              <a:cs typeface="Adobe 楷体 Std R"/>
              <a:sym typeface="宋体" panose="02010600030101010101" pitchFamily="2" charset="-122"/>
            </a:endParaRPr>
          </a:p>
        </p:txBody>
      </p:sp>
      <p:graphicFrame>
        <p:nvGraphicFramePr>
          <p:cNvPr id="3" name="表格 2"/>
          <p:cNvGraphicFramePr>
            <a:graphicFrameLocks noGrp="1"/>
          </p:cNvGraphicFramePr>
          <p:nvPr/>
        </p:nvGraphicFramePr>
        <p:xfrm>
          <a:off x="147357" y="5259860"/>
          <a:ext cx="9785909" cy="745109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724262"/>
                <a:gridCol w="1499089"/>
                <a:gridCol w="847899"/>
                <a:gridCol w="1582286"/>
                <a:gridCol w="1162263"/>
                <a:gridCol w="1323370"/>
                <a:gridCol w="1323370"/>
                <a:gridCol w="1323370"/>
              </a:tblGrid>
              <a:tr h="279804">
                <a:tc rowSpan="2">
                  <a:txBody>
                    <a:bodyPr/>
                    <a:lstStyle/>
                    <a:p>
                      <a:pPr algn="ctr"/>
                      <a:r>
                        <a:rPr lang="zh-CN" altLang="en-US" sz="1600" dirty="0">
                          <a:latin typeface="+mn-ea"/>
                          <a:ea typeface="+mn-ea"/>
                        </a:rPr>
                        <a:t>结论</a:t>
                      </a:r>
                      <a:endParaRPr lang="zh-CN" altLang="en-US" sz="16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9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零部件名称</a:t>
                      </a:r>
                      <a:endParaRPr lang="zh-CN" altLang="en-US" sz="9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900" dirty="0">
                          <a:latin typeface="+mn-ea"/>
                          <a:ea typeface="+mn-ea"/>
                        </a:rPr>
                        <a:t>3A</a:t>
                      </a:r>
                      <a:r>
                        <a:rPr lang="zh-CN" altLang="en-US" sz="900" dirty="0">
                          <a:latin typeface="+mn-ea"/>
                          <a:ea typeface="+mn-ea"/>
                        </a:rPr>
                        <a:t>等级</a:t>
                      </a:r>
                      <a:endParaRPr lang="zh-CN" altLang="en-US" sz="9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9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XXX  (</a:t>
                      </a:r>
                      <a:r>
                        <a:rPr lang="zh-CN" altLang="en-US" sz="9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一轨、二轨、不满足）</a:t>
                      </a:r>
                      <a:endParaRPr lang="zh-CN" altLang="en-US" sz="9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9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XXX(</a:t>
                      </a:r>
                      <a:r>
                        <a:rPr lang="zh-CN" altLang="en-US" sz="9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一轨、二轨、不满足）</a:t>
                      </a:r>
                      <a:endParaRPr lang="zh-CN" altLang="en-US" sz="9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9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XXX(</a:t>
                      </a:r>
                      <a:r>
                        <a:rPr lang="zh-CN" altLang="en-US" sz="9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一轨、二轨、不满足）</a:t>
                      </a:r>
                      <a:endParaRPr lang="zh-CN" altLang="en-US" sz="9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9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XXX</a:t>
                      </a:r>
                      <a:endParaRPr lang="zh-CN" altLang="en-US" sz="9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9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XXX</a:t>
                      </a:r>
                      <a:endParaRPr lang="zh-CN" altLang="en-US" sz="9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/>
                </a:tc>
              </a:tr>
              <a:tr h="270397">
                <a:tc vMerge="1">
                  <a:tcPr anchor="ctr">
                    <a:lnL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000" b="0" i="0" u="none" strike="noStrike" kern="1200" dirty="0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 anchor="ctr">
                    <a:lnL w="190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dirty="0">
                          <a:latin typeface="+mn-ea"/>
                          <a:ea typeface="+mn-ea"/>
                        </a:rPr>
                        <a:t>XXX</a:t>
                      </a:r>
                      <a:endParaRPr lang="zh-CN" altLang="en-US" sz="1200" dirty="0">
                        <a:latin typeface="+mn-ea"/>
                        <a:ea typeface="+mn-ea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100" dirty="0">
                          <a:latin typeface="+mn-ea"/>
                          <a:ea typeface="+mn-ea"/>
                        </a:rPr>
                        <a:t>一轨</a:t>
                      </a:r>
                      <a:endParaRPr lang="zh-CN" altLang="en-US" sz="1100" dirty="0">
                        <a:latin typeface="+mn-ea"/>
                        <a:ea typeface="+mn-ea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100" dirty="0">
                          <a:latin typeface="+mn-ea"/>
                          <a:ea typeface="+mn-ea"/>
                        </a:rPr>
                        <a:t>一轨</a:t>
                      </a:r>
                      <a:endParaRPr lang="zh-CN" altLang="en-US" sz="1100" dirty="0">
                        <a:latin typeface="+mn-ea"/>
                        <a:ea typeface="+mn-ea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100" dirty="0">
                          <a:latin typeface="+mn-ea"/>
                          <a:ea typeface="+mn-ea"/>
                        </a:rPr>
                        <a:t>一轨</a:t>
                      </a:r>
                      <a:endParaRPr lang="zh-CN" altLang="en-US" sz="1100" dirty="0">
                        <a:latin typeface="+mn-ea"/>
                        <a:ea typeface="+mn-ea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100" dirty="0">
                          <a:latin typeface="+mn-ea"/>
                          <a:ea typeface="+mn-ea"/>
                        </a:rPr>
                        <a:t>一轨</a:t>
                      </a:r>
                      <a:endParaRPr lang="zh-CN" altLang="en-US" sz="1100" dirty="0">
                        <a:latin typeface="+mn-ea"/>
                        <a:ea typeface="+mn-ea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100" dirty="0">
                          <a:latin typeface="+mn-ea"/>
                          <a:ea typeface="+mn-ea"/>
                        </a:rPr>
                        <a:t>一轨</a:t>
                      </a:r>
                      <a:endParaRPr lang="zh-CN" altLang="en-US" sz="1100" dirty="0">
                        <a:latin typeface="+mn-ea"/>
                        <a:ea typeface="+mn-ea"/>
                      </a:endParaRPr>
                    </a:p>
                  </a:txBody>
                  <a:tcPr anchor="ctr"/>
                </a:tc>
              </a:tr>
            </a:tbl>
          </a:graphicData>
        </a:graphic>
      </p:graphicFrame>
    </p:spTree>
  </p:cSld>
  <p:clrMapOvr>
    <a:masterClrMapping/>
  </p:clrMapOvr>
  <p:transition spd="med"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503808" y="935831"/>
            <a:ext cx="305724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上传审核报告页：</a:t>
            </a:r>
            <a:endParaRPr lang="en-US" altLang="zh-CN" sz="28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" name="矩形 3"/>
          <p:cNvSpPr/>
          <p:nvPr/>
        </p:nvSpPr>
        <p:spPr bwMode="auto">
          <a:xfrm>
            <a:off x="2808064" y="2015951"/>
            <a:ext cx="3057247" cy="1944216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</a:ln>
        </p:spPr>
        <p:txBody>
          <a:bodyPr wrap="square" rtlCol="0" anchor="ctr">
            <a:spAutoFit/>
          </a:bodyPr>
          <a:lstStyle/>
          <a:p>
            <a:pPr algn="ctr" fontAlgn="ctr"/>
            <a:endParaRPr lang="zh-CN" altLang="en-US" sz="1400" b="1" dirty="0">
              <a:latin typeface="微软雅黑" panose="020B0503020204020204" pitchFamily="34" charset="-122"/>
              <a:ea typeface="微软雅黑" panose="020B0503020204020204" pitchFamily="34" charset="-122"/>
              <a:cs typeface="Adobe 楷体 Std R"/>
            </a:endParaRPr>
          </a:p>
        </p:txBody>
      </p:sp>
    </p:spTree>
  </p:cSld>
  <p:clrMapOvr>
    <a:masterClrMapping/>
  </p:clrMapOvr>
  <p:transition spd="med"/>
</p:sld>
</file>

<file path=ppt/tags/tag1.xml><?xml version="1.0" encoding="utf-8"?>
<p:tagLst xmlns:p="http://schemas.openxmlformats.org/presentationml/2006/main">
  <p:tag name="KSO_WM_UNIT_TABLE_BEAUTIFY" val="smartTable{dc311681-7ddc-4995-8f98-766e27f9d2c8}"/>
</p:tagLst>
</file>

<file path=ppt/tags/tag2.xml><?xml version="1.0" encoding="utf-8"?>
<p:tagLst xmlns:p="http://schemas.openxmlformats.org/presentationml/2006/main">
  <p:tag name="KSO_WM_UNIT_TABLE_BEAUTIFY" val="smartTable{94abbc5d-16cb-4bd0-9ec6-dfc2a6e1f29b}"/>
</p:tagLst>
</file>

<file path=ppt/tags/tag3.xml><?xml version="1.0" encoding="utf-8"?>
<p:tagLst xmlns:p="http://schemas.openxmlformats.org/presentationml/2006/main">
  <p:tag name="KSO_WM_BEAUTIFY_FLAG" val=""/>
</p:tagLst>
</file>

<file path=ppt/tags/tag4.xml><?xml version="1.0" encoding="utf-8"?>
<p:tagLst xmlns:p="http://schemas.openxmlformats.org/presentationml/2006/main">
  <p:tag name="KSO_WM_UNIT_TABLE_BEAUTIFY" val="smartTable{94abbc5d-16cb-4bd0-9ec6-dfc2a6e1f29b}"/>
</p:tagLst>
</file>

<file path=ppt/theme/theme1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noFill/>
        <a:ln w="9525">
          <a:noFill/>
          <a:miter lim="800000"/>
        </a:ln>
      </a:spPr>
      <a:bodyPr wrap="square">
        <a:spAutoFit/>
      </a:bodyPr>
      <a:lstStyle>
        <a:defPPr fontAlgn="ctr">
          <a:defRPr sz="1400" b="1" dirty="0" smtClean="0">
            <a:latin typeface="微软雅黑" panose="020B0503020204020204" pitchFamily="34" charset="-122"/>
            <a:ea typeface="微软雅黑" panose="020B0503020204020204" pitchFamily="34" charset="-122"/>
            <a:cs typeface="Adobe 楷体 Std R"/>
          </a:defRPr>
        </a:defPPr>
      </a:lstStyle>
    </a:spDef>
    <a:lnDef>
      <a:spPr>
        <a:ln w="9525" cap="flat" cmpd="sng">
          <a:solidFill>
            <a:schemeClr val="tx1"/>
          </a:solidFill>
          <a:prstDash val="solid"/>
          <a:headEnd type="none" w="med" len="med"/>
          <a:tailEnd type="triangle" w="med" len="med"/>
        </a:ln>
      </a:spPr>
      <a:bodyPr/>
      <a:lstStyle/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4580</Words>
  <Application>WPS 演示</Application>
  <PresentationFormat>自定义</PresentationFormat>
  <Paragraphs>714</Paragraphs>
  <Slides>9</Slides>
  <Notes>6</Notes>
  <HiddenSlides>0</HiddenSlides>
  <MMClips>0</MMClips>
  <ScaleCrop>false</ScaleCrop>
  <HeadingPairs>
    <vt:vector size="6" baseType="variant">
      <vt:variant>
        <vt:lpstr>已用的字体</vt:lpstr>
      </vt:variant>
      <vt:variant>
        <vt:i4>10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9</vt:i4>
      </vt:variant>
    </vt:vector>
  </HeadingPairs>
  <TitlesOfParts>
    <vt:vector size="20" baseType="lpstr">
      <vt:lpstr>Arial</vt:lpstr>
      <vt:lpstr>宋体</vt:lpstr>
      <vt:lpstr>Wingdings</vt:lpstr>
      <vt:lpstr>微软雅黑</vt:lpstr>
      <vt:lpstr>Adobe 楷体 Std R</vt:lpstr>
      <vt:lpstr>Calibri</vt:lpstr>
      <vt:lpstr>楷体_GB2312</vt:lpstr>
      <vt:lpstr>Arial Unicode MS</vt:lpstr>
      <vt:lpstr>Arial Unicode MS</vt:lpstr>
      <vt:lpstr>新宋体</vt:lpstr>
      <vt:lpstr>Office 主题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幻灯片 1</dc:title>
  <dc:creator>何晓亮(Xiaoliang He)</dc:creator>
  <cp:lastModifiedBy>呼延觉罗⊙▽⊙修</cp:lastModifiedBy>
  <cp:revision>2280</cp:revision>
  <cp:lastPrinted>2024-09-12T12:28:00Z</cp:lastPrinted>
  <dcterms:created xsi:type="dcterms:W3CDTF">2018-05-27T04:41:00Z</dcterms:created>
  <dcterms:modified xsi:type="dcterms:W3CDTF">2025-09-11T07:03:40Z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2052-12.1.0.22529</vt:lpwstr>
  </property>
  <property fmtid="{D5CDD505-2E9C-101B-9397-08002B2CF9AE}" pid="3" name="ICV">
    <vt:lpwstr>4AE4CB6E6AED4AE8AEB6E7661B378891_13</vt:lpwstr>
  </property>
</Properties>
</file>